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8" r:id="rId10"/>
    <p:sldId id="265" r:id="rId11"/>
    <p:sldId id="266" r:id="rId12"/>
    <p:sldId id="267" r:id="rId13"/>
  </p:sldIdLst>
  <p:sldSz cx="18288000" cy="10287000"/>
  <p:notesSz cx="6858000" cy="9144000"/>
  <p:embeddedFontLst>
    <p:embeddedFont>
      <p:font typeface="Red Hat Display" panose="020B0604020202020204" charset="0"/>
      <p:regular r:id="rId15"/>
    </p:embeddedFont>
    <p:embeddedFont>
      <p:font typeface="Red Hat Display Bold" panose="020B0604020202020204" charset="0"/>
      <p:regular r:id="rId16"/>
    </p:embeddedFont>
    <p:embeddedFont>
      <p:font typeface="Roboto Slab" pitchFamily="2" charset="0"/>
      <p:regular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2261"/>
    <a:srgbClr val="392E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33" d="100"/>
          <a:sy n="33" d="100"/>
        </p:scale>
        <p:origin x="1300" y="4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95408-B0EE-48AA-AB76-19A5A261E5D6}" type="datetimeFigureOut">
              <a:rPr lang="en-US" smtClean="0"/>
              <a:t>7/13/2026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9A9876-9C78-4F2F-817C-CCE36C07D6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3184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9A9876-9C78-4F2F-817C-CCE36C07D6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669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8760629" y="-2095015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4" y="0"/>
                </a:lnTo>
                <a:lnTo>
                  <a:pt x="10960234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9868185" y="2136222"/>
            <a:ext cx="6925852" cy="6014556"/>
          </a:xfrm>
          <a:custGeom>
            <a:avLst/>
            <a:gdLst/>
            <a:ahLst/>
            <a:cxnLst/>
            <a:rect l="l" t="t" r="r" b="b"/>
            <a:pathLst>
              <a:path w="6925852" h="6014556">
                <a:moveTo>
                  <a:pt x="0" y="0"/>
                </a:moveTo>
                <a:lnTo>
                  <a:pt x="6925852" y="0"/>
                </a:lnTo>
                <a:lnTo>
                  <a:pt x="6925852" y="6014556"/>
                </a:lnTo>
                <a:lnTo>
                  <a:pt x="0" y="60145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635325">
            <a:off x="-1336143" y="6923321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-226878">
            <a:off x="-216283" y="847655"/>
            <a:ext cx="4576141" cy="2579280"/>
          </a:xfrm>
          <a:custGeom>
            <a:avLst/>
            <a:gdLst/>
            <a:ahLst/>
            <a:cxnLst/>
            <a:rect l="l" t="t" r="r" b="b"/>
            <a:pathLst>
              <a:path w="4576141" h="2579280">
                <a:moveTo>
                  <a:pt x="0" y="0"/>
                </a:moveTo>
                <a:lnTo>
                  <a:pt x="4576141" y="0"/>
                </a:lnTo>
                <a:lnTo>
                  <a:pt x="4576141" y="2579280"/>
                </a:lnTo>
                <a:lnTo>
                  <a:pt x="0" y="25792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2830696">
            <a:off x="12315724" y="82296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1028700" y="5463597"/>
            <a:ext cx="5756398" cy="495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66"/>
              </a:lnSpc>
            </a:pPr>
            <a:r>
              <a:rPr lang="en-US" sz="2976">
                <a:solidFill>
                  <a:srgbClr val="5B7ABE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Noora Hussain Ali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92619" y="3979127"/>
            <a:ext cx="8114734" cy="11034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800"/>
              </a:lnSpc>
            </a:pPr>
            <a:r>
              <a:rPr lang="en-US" sz="7074" b="1" dirty="0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Customer Churn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01445" y="3314288"/>
            <a:ext cx="12738318" cy="4589884"/>
            <a:chOff x="0" y="0"/>
            <a:chExt cx="3354948" cy="12088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54948" cy="1208858"/>
            </a:xfrm>
            <a:custGeom>
              <a:avLst/>
              <a:gdLst/>
              <a:ahLst/>
              <a:cxnLst/>
              <a:rect l="l" t="t" r="r" b="b"/>
              <a:pathLst>
                <a:path w="3354948" h="1208858">
                  <a:moveTo>
                    <a:pt x="18233" y="0"/>
                  </a:moveTo>
                  <a:lnTo>
                    <a:pt x="3336715" y="0"/>
                  </a:lnTo>
                  <a:cubicBezTo>
                    <a:pt x="3341551" y="0"/>
                    <a:pt x="3346188" y="1921"/>
                    <a:pt x="3349608" y="5340"/>
                  </a:cubicBezTo>
                  <a:cubicBezTo>
                    <a:pt x="3353027" y="8760"/>
                    <a:pt x="3354948" y="13397"/>
                    <a:pt x="3354948" y="18233"/>
                  </a:cubicBezTo>
                  <a:lnTo>
                    <a:pt x="3354948" y="1190625"/>
                  </a:lnTo>
                  <a:cubicBezTo>
                    <a:pt x="3354948" y="1200695"/>
                    <a:pt x="3346785" y="1208858"/>
                    <a:pt x="3336715" y="1208858"/>
                  </a:cubicBezTo>
                  <a:lnTo>
                    <a:pt x="18233" y="1208858"/>
                  </a:lnTo>
                  <a:cubicBezTo>
                    <a:pt x="13397" y="1208858"/>
                    <a:pt x="8760" y="1206937"/>
                    <a:pt x="5340" y="1203518"/>
                  </a:cubicBezTo>
                  <a:cubicBezTo>
                    <a:pt x="1921" y="1200099"/>
                    <a:pt x="0" y="1195461"/>
                    <a:pt x="0" y="1190625"/>
                  </a:cubicBezTo>
                  <a:lnTo>
                    <a:pt x="0" y="18233"/>
                  </a:lnTo>
                  <a:cubicBezTo>
                    <a:pt x="0" y="13397"/>
                    <a:pt x="1921" y="8760"/>
                    <a:pt x="5340" y="5340"/>
                  </a:cubicBezTo>
                  <a:cubicBezTo>
                    <a:pt x="8760" y="1921"/>
                    <a:pt x="13397" y="0"/>
                    <a:pt x="18233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354948" cy="1256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439840" y="2382828"/>
            <a:ext cx="4061528" cy="1866815"/>
            <a:chOff x="0" y="0"/>
            <a:chExt cx="1069703" cy="49167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703" cy="491672"/>
            </a:xfrm>
            <a:custGeom>
              <a:avLst/>
              <a:gdLst/>
              <a:ahLst/>
              <a:cxnLst/>
              <a:rect l="l" t="t" r="r" b="b"/>
              <a:pathLst>
                <a:path w="1069703" h="491672">
                  <a:moveTo>
                    <a:pt x="57185" y="0"/>
                  </a:moveTo>
                  <a:lnTo>
                    <a:pt x="1012518" y="0"/>
                  </a:lnTo>
                  <a:cubicBezTo>
                    <a:pt x="1027684" y="0"/>
                    <a:pt x="1042230" y="6025"/>
                    <a:pt x="1052954" y="16749"/>
                  </a:cubicBezTo>
                  <a:cubicBezTo>
                    <a:pt x="1063678" y="27473"/>
                    <a:pt x="1069703" y="42018"/>
                    <a:pt x="1069703" y="57185"/>
                  </a:cubicBezTo>
                  <a:lnTo>
                    <a:pt x="1069703" y="434487"/>
                  </a:lnTo>
                  <a:cubicBezTo>
                    <a:pt x="1069703" y="466069"/>
                    <a:pt x="1044100" y="491672"/>
                    <a:pt x="1012518" y="491672"/>
                  </a:cubicBezTo>
                  <a:lnTo>
                    <a:pt x="57185" y="491672"/>
                  </a:lnTo>
                  <a:cubicBezTo>
                    <a:pt x="42018" y="491672"/>
                    <a:pt x="27473" y="485647"/>
                    <a:pt x="16749" y="474923"/>
                  </a:cubicBezTo>
                  <a:cubicBezTo>
                    <a:pt x="6025" y="464198"/>
                    <a:pt x="0" y="449653"/>
                    <a:pt x="0" y="434487"/>
                  </a:cubicBezTo>
                  <a:lnTo>
                    <a:pt x="0" y="57185"/>
                  </a:lnTo>
                  <a:cubicBezTo>
                    <a:pt x="0" y="42018"/>
                    <a:pt x="6025" y="27473"/>
                    <a:pt x="16749" y="16749"/>
                  </a:cubicBezTo>
                  <a:cubicBezTo>
                    <a:pt x="27473" y="6025"/>
                    <a:pt x="42018" y="0"/>
                    <a:pt x="57185" y="0"/>
                  </a:cubicBezTo>
                  <a:close/>
                </a:path>
              </a:pathLst>
            </a:custGeom>
            <a:solidFill>
              <a:srgbClr val="5B7AB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69703" cy="539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719084" y="2990755"/>
            <a:ext cx="3503040" cy="580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BFCFE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Introduction 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21538" y="4730516"/>
            <a:ext cx="11298675" cy="2126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In this project, I explore customer churn. The main goal is to understand why some customers leave the company while others stay. By analyzing customer data. I hope to find the main factors that affect customer churn .</a:t>
            </a:r>
          </a:p>
        </p:txBody>
      </p:sp>
      <p:sp>
        <p:nvSpPr>
          <p:cNvPr id="10" name="Freeform 10"/>
          <p:cNvSpPr/>
          <p:nvPr/>
        </p:nvSpPr>
        <p:spPr>
          <a:xfrm rot="-2080684">
            <a:off x="10082077" y="8242051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5" y="0"/>
                </a:lnTo>
                <a:lnTo>
                  <a:pt x="10960235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9426524">
            <a:off x="-3984660" y="-4765086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-2624874">
            <a:off x="-884948" y="9077955"/>
            <a:ext cx="3242701" cy="1827704"/>
          </a:xfrm>
          <a:custGeom>
            <a:avLst/>
            <a:gdLst/>
            <a:ahLst/>
            <a:cxnLst/>
            <a:rect l="l" t="t" r="r" b="b"/>
            <a:pathLst>
              <a:path w="3242701" h="1827704">
                <a:moveTo>
                  <a:pt x="0" y="0"/>
                </a:moveTo>
                <a:lnTo>
                  <a:pt x="3242701" y="0"/>
                </a:lnTo>
                <a:lnTo>
                  <a:pt x="3242701" y="1827704"/>
                </a:lnTo>
                <a:lnTo>
                  <a:pt x="0" y="18277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2830696">
            <a:off x="16075185" y="-10287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01445" y="3314288"/>
            <a:ext cx="12738318" cy="4589884"/>
            <a:chOff x="0" y="0"/>
            <a:chExt cx="3354948" cy="1208858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54948" cy="1208858"/>
            </a:xfrm>
            <a:custGeom>
              <a:avLst/>
              <a:gdLst/>
              <a:ahLst/>
              <a:cxnLst/>
              <a:rect l="l" t="t" r="r" b="b"/>
              <a:pathLst>
                <a:path w="3354948" h="1208858">
                  <a:moveTo>
                    <a:pt x="18233" y="0"/>
                  </a:moveTo>
                  <a:lnTo>
                    <a:pt x="3336715" y="0"/>
                  </a:lnTo>
                  <a:cubicBezTo>
                    <a:pt x="3341551" y="0"/>
                    <a:pt x="3346188" y="1921"/>
                    <a:pt x="3349608" y="5340"/>
                  </a:cubicBezTo>
                  <a:cubicBezTo>
                    <a:pt x="3353027" y="8760"/>
                    <a:pt x="3354948" y="13397"/>
                    <a:pt x="3354948" y="18233"/>
                  </a:cubicBezTo>
                  <a:lnTo>
                    <a:pt x="3354948" y="1190625"/>
                  </a:lnTo>
                  <a:cubicBezTo>
                    <a:pt x="3354948" y="1200695"/>
                    <a:pt x="3346785" y="1208858"/>
                    <a:pt x="3336715" y="1208858"/>
                  </a:cubicBezTo>
                  <a:lnTo>
                    <a:pt x="18233" y="1208858"/>
                  </a:lnTo>
                  <a:cubicBezTo>
                    <a:pt x="13397" y="1208858"/>
                    <a:pt x="8760" y="1206937"/>
                    <a:pt x="5340" y="1203518"/>
                  </a:cubicBezTo>
                  <a:cubicBezTo>
                    <a:pt x="1921" y="1200099"/>
                    <a:pt x="0" y="1195461"/>
                    <a:pt x="0" y="1190625"/>
                  </a:cubicBezTo>
                  <a:lnTo>
                    <a:pt x="0" y="18233"/>
                  </a:lnTo>
                  <a:cubicBezTo>
                    <a:pt x="0" y="13397"/>
                    <a:pt x="1921" y="8760"/>
                    <a:pt x="5340" y="5340"/>
                  </a:cubicBezTo>
                  <a:cubicBezTo>
                    <a:pt x="8760" y="1921"/>
                    <a:pt x="13397" y="0"/>
                    <a:pt x="18233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354948" cy="12564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439840" y="2382828"/>
            <a:ext cx="4061528" cy="1866815"/>
            <a:chOff x="0" y="0"/>
            <a:chExt cx="1069703" cy="49167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703" cy="491672"/>
            </a:xfrm>
            <a:custGeom>
              <a:avLst/>
              <a:gdLst/>
              <a:ahLst/>
              <a:cxnLst/>
              <a:rect l="l" t="t" r="r" b="b"/>
              <a:pathLst>
                <a:path w="1069703" h="491672">
                  <a:moveTo>
                    <a:pt x="57185" y="0"/>
                  </a:moveTo>
                  <a:lnTo>
                    <a:pt x="1012518" y="0"/>
                  </a:lnTo>
                  <a:cubicBezTo>
                    <a:pt x="1027684" y="0"/>
                    <a:pt x="1042230" y="6025"/>
                    <a:pt x="1052954" y="16749"/>
                  </a:cubicBezTo>
                  <a:cubicBezTo>
                    <a:pt x="1063678" y="27473"/>
                    <a:pt x="1069703" y="42018"/>
                    <a:pt x="1069703" y="57185"/>
                  </a:cubicBezTo>
                  <a:lnTo>
                    <a:pt x="1069703" y="434487"/>
                  </a:lnTo>
                  <a:cubicBezTo>
                    <a:pt x="1069703" y="466069"/>
                    <a:pt x="1044100" y="491672"/>
                    <a:pt x="1012518" y="491672"/>
                  </a:cubicBezTo>
                  <a:lnTo>
                    <a:pt x="57185" y="491672"/>
                  </a:lnTo>
                  <a:cubicBezTo>
                    <a:pt x="42018" y="491672"/>
                    <a:pt x="27473" y="485647"/>
                    <a:pt x="16749" y="474923"/>
                  </a:cubicBezTo>
                  <a:cubicBezTo>
                    <a:pt x="6025" y="464198"/>
                    <a:pt x="0" y="449653"/>
                    <a:pt x="0" y="434487"/>
                  </a:cubicBezTo>
                  <a:lnTo>
                    <a:pt x="0" y="57185"/>
                  </a:lnTo>
                  <a:cubicBezTo>
                    <a:pt x="0" y="42018"/>
                    <a:pt x="6025" y="27473"/>
                    <a:pt x="16749" y="16749"/>
                  </a:cubicBezTo>
                  <a:cubicBezTo>
                    <a:pt x="27473" y="6025"/>
                    <a:pt x="42018" y="0"/>
                    <a:pt x="57185" y="0"/>
                  </a:cubicBezTo>
                  <a:close/>
                </a:path>
              </a:pathLst>
            </a:custGeom>
            <a:solidFill>
              <a:srgbClr val="5B7AB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69703" cy="539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719084" y="2692665"/>
            <a:ext cx="3503040" cy="11804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BFCFE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Problem Statement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821266" y="5095875"/>
            <a:ext cx="11298675" cy="10489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</a:pPr>
            <a:r>
              <a:rPr lang="en-US" sz="29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The company is facing a </a:t>
            </a:r>
            <a:r>
              <a:rPr lang="en-US" sz="3200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high customer churn </a:t>
            </a:r>
            <a:r>
              <a:rPr lang="en-US" sz="29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rate, where </a:t>
            </a:r>
            <a:r>
              <a:rPr lang="en-US" sz="3200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55.52</a:t>
            </a:r>
            <a:r>
              <a:rPr lang="en-US" sz="29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% of </a:t>
            </a:r>
            <a:r>
              <a:rPr lang="en-US" sz="3200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customers have left.</a:t>
            </a:r>
            <a:endParaRPr lang="en-US" sz="29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" name="Freeform 10"/>
          <p:cNvSpPr/>
          <p:nvPr/>
        </p:nvSpPr>
        <p:spPr>
          <a:xfrm rot="-2080684">
            <a:off x="10082077" y="8242051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5" y="0"/>
                </a:lnTo>
                <a:lnTo>
                  <a:pt x="10960235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9426524">
            <a:off x="-3984660" y="-4765086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-2624874">
            <a:off x="-884948" y="9077955"/>
            <a:ext cx="3242701" cy="1827704"/>
          </a:xfrm>
          <a:custGeom>
            <a:avLst/>
            <a:gdLst/>
            <a:ahLst/>
            <a:cxnLst/>
            <a:rect l="l" t="t" r="r" b="b"/>
            <a:pathLst>
              <a:path w="3242701" h="1827704">
                <a:moveTo>
                  <a:pt x="0" y="0"/>
                </a:moveTo>
                <a:lnTo>
                  <a:pt x="3242701" y="0"/>
                </a:lnTo>
                <a:lnTo>
                  <a:pt x="3242701" y="1827704"/>
                </a:lnTo>
                <a:lnTo>
                  <a:pt x="0" y="18277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2830696">
            <a:off x="16075185" y="-10287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4264475" y="952500"/>
            <a:ext cx="9759051" cy="7281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65"/>
              </a:lnSpc>
            </a:pPr>
            <a:r>
              <a:rPr lang="en-US" sz="4332" b="1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Objectives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3524348" y="2311676"/>
            <a:ext cx="3499238" cy="3187339"/>
            <a:chOff x="0" y="0"/>
            <a:chExt cx="921610" cy="839464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921610" cy="839464"/>
            </a:xfrm>
            <a:custGeom>
              <a:avLst/>
              <a:gdLst/>
              <a:ahLst/>
              <a:cxnLst/>
              <a:rect l="l" t="t" r="r" b="b"/>
              <a:pathLst>
                <a:path w="921610" h="839464">
                  <a:moveTo>
                    <a:pt x="66374" y="0"/>
                  </a:moveTo>
                  <a:lnTo>
                    <a:pt x="855236" y="0"/>
                  </a:lnTo>
                  <a:cubicBezTo>
                    <a:pt x="891893" y="0"/>
                    <a:pt x="921610" y="29717"/>
                    <a:pt x="921610" y="66374"/>
                  </a:cubicBezTo>
                  <a:lnTo>
                    <a:pt x="921610" y="773090"/>
                  </a:lnTo>
                  <a:cubicBezTo>
                    <a:pt x="921610" y="809747"/>
                    <a:pt x="891893" y="839464"/>
                    <a:pt x="855236" y="839464"/>
                  </a:cubicBezTo>
                  <a:lnTo>
                    <a:pt x="66374" y="839464"/>
                  </a:lnTo>
                  <a:cubicBezTo>
                    <a:pt x="29717" y="839464"/>
                    <a:pt x="0" y="809747"/>
                    <a:pt x="0" y="773090"/>
                  </a:cubicBezTo>
                  <a:lnTo>
                    <a:pt x="0" y="66374"/>
                  </a:lnTo>
                  <a:cubicBezTo>
                    <a:pt x="0" y="29717"/>
                    <a:pt x="29717" y="0"/>
                    <a:pt x="66374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921610" cy="887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4010802" y="2866389"/>
            <a:ext cx="2526330" cy="1829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800" dirty="0"/>
              <a:t>Identify customer groups with higher churn rates.</a:t>
            </a:r>
            <a:endParaRPr lang="en-US" sz="25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7" name="Group 7"/>
          <p:cNvGrpSpPr/>
          <p:nvPr/>
        </p:nvGrpSpPr>
        <p:grpSpPr>
          <a:xfrm>
            <a:off x="7394381" y="2311676"/>
            <a:ext cx="3499238" cy="3187339"/>
            <a:chOff x="0" y="0"/>
            <a:chExt cx="921610" cy="83946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921610" cy="839464"/>
            </a:xfrm>
            <a:custGeom>
              <a:avLst/>
              <a:gdLst/>
              <a:ahLst/>
              <a:cxnLst/>
              <a:rect l="l" t="t" r="r" b="b"/>
              <a:pathLst>
                <a:path w="921610" h="839464">
                  <a:moveTo>
                    <a:pt x="66374" y="0"/>
                  </a:moveTo>
                  <a:lnTo>
                    <a:pt x="855236" y="0"/>
                  </a:lnTo>
                  <a:cubicBezTo>
                    <a:pt x="891893" y="0"/>
                    <a:pt x="921610" y="29717"/>
                    <a:pt x="921610" y="66374"/>
                  </a:cubicBezTo>
                  <a:lnTo>
                    <a:pt x="921610" y="773090"/>
                  </a:lnTo>
                  <a:cubicBezTo>
                    <a:pt x="921610" y="809747"/>
                    <a:pt x="891893" y="839464"/>
                    <a:pt x="855236" y="839464"/>
                  </a:cubicBezTo>
                  <a:lnTo>
                    <a:pt x="66374" y="839464"/>
                  </a:lnTo>
                  <a:cubicBezTo>
                    <a:pt x="29717" y="839464"/>
                    <a:pt x="0" y="809747"/>
                    <a:pt x="0" y="773090"/>
                  </a:cubicBezTo>
                  <a:lnTo>
                    <a:pt x="0" y="66374"/>
                  </a:lnTo>
                  <a:cubicBezTo>
                    <a:pt x="0" y="29717"/>
                    <a:pt x="29717" y="0"/>
                    <a:pt x="66374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47625"/>
              <a:ext cx="921610" cy="887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264415" y="2311676"/>
            <a:ext cx="3499238" cy="3187339"/>
            <a:chOff x="0" y="0"/>
            <a:chExt cx="921610" cy="839464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21610" cy="839464"/>
            </a:xfrm>
            <a:custGeom>
              <a:avLst/>
              <a:gdLst/>
              <a:ahLst/>
              <a:cxnLst/>
              <a:rect l="l" t="t" r="r" b="b"/>
              <a:pathLst>
                <a:path w="921610" h="839464">
                  <a:moveTo>
                    <a:pt x="66374" y="0"/>
                  </a:moveTo>
                  <a:lnTo>
                    <a:pt x="855236" y="0"/>
                  </a:lnTo>
                  <a:cubicBezTo>
                    <a:pt x="891893" y="0"/>
                    <a:pt x="921610" y="29717"/>
                    <a:pt x="921610" y="66374"/>
                  </a:cubicBezTo>
                  <a:lnTo>
                    <a:pt x="921610" y="773090"/>
                  </a:lnTo>
                  <a:cubicBezTo>
                    <a:pt x="921610" y="809747"/>
                    <a:pt x="891893" y="839464"/>
                    <a:pt x="855236" y="839464"/>
                  </a:cubicBezTo>
                  <a:lnTo>
                    <a:pt x="66374" y="839464"/>
                  </a:lnTo>
                  <a:cubicBezTo>
                    <a:pt x="29717" y="839464"/>
                    <a:pt x="0" y="809747"/>
                    <a:pt x="0" y="773090"/>
                  </a:cubicBezTo>
                  <a:lnTo>
                    <a:pt x="0" y="66374"/>
                  </a:lnTo>
                  <a:cubicBezTo>
                    <a:pt x="0" y="29717"/>
                    <a:pt x="29717" y="0"/>
                    <a:pt x="66374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921610" cy="887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13" name="Freeform 13"/>
          <p:cNvSpPr/>
          <p:nvPr/>
        </p:nvSpPr>
        <p:spPr>
          <a:xfrm rot="-2080684">
            <a:off x="10082077" y="8242051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5" y="0"/>
                </a:lnTo>
                <a:lnTo>
                  <a:pt x="10960235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4" name="Freeform 14"/>
          <p:cNvSpPr/>
          <p:nvPr/>
        </p:nvSpPr>
        <p:spPr>
          <a:xfrm rot="9426524">
            <a:off x="-3984660" y="-4765086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5" name="Freeform 15"/>
          <p:cNvSpPr/>
          <p:nvPr/>
        </p:nvSpPr>
        <p:spPr>
          <a:xfrm rot="-2624874">
            <a:off x="-884948" y="9077955"/>
            <a:ext cx="3242701" cy="1827704"/>
          </a:xfrm>
          <a:custGeom>
            <a:avLst/>
            <a:gdLst/>
            <a:ahLst/>
            <a:cxnLst/>
            <a:rect l="l" t="t" r="r" b="b"/>
            <a:pathLst>
              <a:path w="3242701" h="1827704">
                <a:moveTo>
                  <a:pt x="0" y="0"/>
                </a:moveTo>
                <a:lnTo>
                  <a:pt x="3242701" y="0"/>
                </a:lnTo>
                <a:lnTo>
                  <a:pt x="3242701" y="1827704"/>
                </a:lnTo>
                <a:lnTo>
                  <a:pt x="0" y="18277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Freeform 16"/>
          <p:cNvSpPr/>
          <p:nvPr/>
        </p:nvSpPr>
        <p:spPr>
          <a:xfrm rot="2830696">
            <a:off x="16075185" y="-10287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7880835" y="2866389"/>
            <a:ext cx="2526330" cy="1829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800" dirty="0"/>
              <a:t>Explore the key factors associated with customer churn.</a:t>
            </a:r>
            <a:endParaRPr lang="en-US" sz="25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1311768" y="2900162"/>
            <a:ext cx="3326461" cy="182954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800" dirty="0"/>
              <a:t>Compare spending and service usage between churned and retained customers. </a:t>
            </a:r>
            <a:endParaRPr lang="en-US" sz="25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19" name="Group 19"/>
          <p:cNvGrpSpPr/>
          <p:nvPr/>
        </p:nvGrpSpPr>
        <p:grpSpPr>
          <a:xfrm>
            <a:off x="3524348" y="5787792"/>
            <a:ext cx="3499238" cy="3187339"/>
            <a:chOff x="0" y="0"/>
            <a:chExt cx="921610" cy="83946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1610" cy="839464"/>
            </a:xfrm>
            <a:custGeom>
              <a:avLst/>
              <a:gdLst/>
              <a:ahLst/>
              <a:cxnLst/>
              <a:rect l="l" t="t" r="r" b="b"/>
              <a:pathLst>
                <a:path w="921610" h="839464">
                  <a:moveTo>
                    <a:pt x="66374" y="0"/>
                  </a:moveTo>
                  <a:lnTo>
                    <a:pt x="855236" y="0"/>
                  </a:lnTo>
                  <a:cubicBezTo>
                    <a:pt x="891893" y="0"/>
                    <a:pt x="921610" y="29717"/>
                    <a:pt x="921610" y="66374"/>
                  </a:cubicBezTo>
                  <a:lnTo>
                    <a:pt x="921610" y="773090"/>
                  </a:lnTo>
                  <a:cubicBezTo>
                    <a:pt x="921610" y="809747"/>
                    <a:pt x="891893" y="839464"/>
                    <a:pt x="855236" y="839464"/>
                  </a:cubicBezTo>
                  <a:lnTo>
                    <a:pt x="66374" y="839464"/>
                  </a:lnTo>
                  <a:cubicBezTo>
                    <a:pt x="29717" y="839464"/>
                    <a:pt x="0" y="809747"/>
                    <a:pt x="0" y="773090"/>
                  </a:cubicBezTo>
                  <a:lnTo>
                    <a:pt x="0" y="66374"/>
                  </a:lnTo>
                  <a:cubicBezTo>
                    <a:pt x="0" y="29717"/>
                    <a:pt x="29717" y="0"/>
                    <a:pt x="66374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921610" cy="887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4010802" y="5949207"/>
            <a:ext cx="2526330" cy="275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800" dirty="0"/>
              <a:t>Analyze the relationship between support calls, payment delays, and churn.</a:t>
            </a:r>
            <a:endParaRPr lang="en-US" sz="25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grpSp>
        <p:nvGrpSpPr>
          <p:cNvPr id="23" name="Group 23"/>
          <p:cNvGrpSpPr/>
          <p:nvPr/>
        </p:nvGrpSpPr>
        <p:grpSpPr>
          <a:xfrm>
            <a:off x="7394381" y="5787792"/>
            <a:ext cx="3499238" cy="3187339"/>
            <a:chOff x="0" y="0"/>
            <a:chExt cx="921610" cy="83946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921610" cy="839464"/>
            </a:xfrm>
            <a:custGeom>
              <a:avLst/>
              <a:gdLst/>
              <a:ahLst/>
              <a:cxnLst/>
              <a:rect l="l" t="t" r="r" b="b"/>
              <a:pathLst>
                <a:path w="921610" h="839464">
                  <a:moveTo>
                    <a:pt x="66374" y="0"/>
                  </a:moveTo>
                  <a:lnTo>
                    <a:pt x="855236" y="0"/>
                  </a:lnTo>
                  <a:cubicBezTo>
                    <a:pt x="891893" y="0"/>
                    <a:pt x="921610" y="29717"/>
                    <a:pt x="921610" y="66374"/>
                  </a:cubicBezTo>
                  <a:lnTo>
                    <a:pt x="921610" y="773090"/>
                  </a:lnTo>
                  <a:cubicBezTo>
                    <a:pt x="921610" y="809747"/>
                    <a:pt x="891893" y="839464"/>
                    <a:pt x="855236" y="839464"/>
                  </a:cubicBezTo>
                  <a:lnTo>
                    <a:pt x="66374" y="839464"/>
                  </a:lnTo>
                  <a:cubicBezTo>
                    <a:pt x="29717" y="839464"/>
                    <a:pt x="0" y="809747"/>
                    <a:pt x="0" y="773090"/>
                  </a:cubicBezTo>
                  <a:lnTo>
                    <a:pt x="0" y="66374"/>
                  </a:lnTo>
                  <a:cubicBezTo>
                    <a:pt x="0" y="29717"/>
                    <a:pt x="29717" y="0"/>
                    <a:pt x="66374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921610" cy="8870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7880835" y="6214331"/>
            <a:ext cx="2526330" cy="1829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9"/>
              </a:lnSpc>
            </a:pPr>
            <a:r>
              <a:rPr lang="en-US" sz="2800" dirty="0"/>
              <a:t>Evaluate the impact of contract type on customer loyalty.</a:t>
            </a:r>
            <a:endParaRPr lang="en-US" sz="25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93540" y="-2095015"/>
            <a:ext cx="6727323" cy="4586811"/>
          </a:xfrm>
          <a:custGeom>
            <a:avLst/>
            <a:gdLst/>
            <a:ahLst/>
            <a:cxnLst/>
            <a:rect l="l" t="t" r="r" b="b"/>
            <a:pathLst>
              <a:path w="6727323" h="4586811">
                <a:moveTo>
                  <a:pt x="0" y="0"/>
                </a:moveTo>
                <a:lnTo>
                  <a:pt x="6727323" y="0"/>
                </a:lnTo>
                <a:lnTo>
                  <a:pt x="6727323" y="4586812"/>
                </a:lnTo>
                <a:lnTo>
                  <a:pt x="0" y="45868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321675" y="1084046"/>
            <a:ext cx="7521748" cy="88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3"/>
              </a:lnSpc>
            </a:pPr>
            <a:r>
              <a:rPr lang="en-US" sz="5718" b="1" dirty="0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Churn Rate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204135" y="4399772"/>
            <a:ext cx="6516654" cy="2659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32"/>
              </a:lnSpc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The churn rate is pretty high at 56%, which means more than half left. We need to figure out why we are losing them.</a:t>
            </a:r>
          </a:p>
          <a:p>
            <a:pPr algn="ctr">
              <a:lnSpc>
                <a:spcPts val="3032"/>
              </a:lnSpc>
            </a:pPr>
            <a:endParaRPr lang="en-US" sz="2166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ctr">
              <a:lnSpc>
                <a:spcPts val="3032"/>
              </a:lnSpc>
              <a:spcBef>
                <a:spcPct val="0"/>
              </a:spcBef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The data shows that 56% of people left, while only 44% stayed. This is a clear sign that we need better ways to keep them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B9FAF2-B1D5-E880-EABC-20FED7B171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5861" y="2339035"/>
            <a:ext cx="6781078" cy="67810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93540" y="-2095015"/>
            <a:ext cx="6727323" cy="4586811"/>
          </a:xfrm>
          <a:custGeom>
            <a:avLst/>
            <a:gdLst/>
            <a:ahLst/>
            <a:cxnLst/>
            <a:rect l="l" t="t" r="r" b="b"/>
            <a:pathLst>
              <a:path w="6727323" h="4586811">
                <a:moveTo>
                  <a:pt x="0" y="0"/>
                </a:moveTo>
                <a:lnTo>
                  <a:pt x="6727323" y="0"/>
                </a:lnTo>
                <a:lnTo>
                  <a:pt x="6727323" y="4586812"/>
                </a:lnTo>
                <a:lnTo>
                  <a:pt x="0" y="45868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5411219" y="529779"/>
            <a:ext cx="6559765" cy="1787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3"/>
              </a:lnSpc>
            </a:pPr>
            <a:r>
              <a:rPr lang="en-US" sz="5718" b="1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Support Calls vs Customer Churn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439400" y="4114371"/>
            <a:ext cx="6715940" cy="41317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61334" lvl="1" indent="-280667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170" dirty="0">
                <a:solidFill>
                  <a:srgbClr val="2D2261"/>
                </a:solidFill>
                <a:latin typeface="Roboto Slab" pitchFamily="2" charset="0"/>
                <a:ea typeface="Roboto Slab" pitchFamily="2" charset="0"/>
                <a:cs typeface="Roboto Slab" pitchFamily="2" charset="0"/>
                <a:sym typeface="Red Hat Display"/>
              </a:rPr>
              <a:t>Churned customers made more than 5 support calls on average.</a:t>
            </a:r>
          </a:p>
          <a:p>
            <a:pPr marL="561334" lvl="1" indent="-280667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170" dirty="0">
                <a:solidFill>
                  <a:srgbClr val="2D2261"/>
                </a:solidFill>
                <a:latin typeface="Roboto Slab" pitchFamily="2" charset="0"/>
                <a:ea typeface="Roboto Slab" pitchFamily="2" charset="0"/>
                <a:cs typeface="Roboto Slab" pitchFamily="2" charset="0"/>
                <a:sym typeface="Red Hat Display"/>
              </a:rPr>
              <a:t>Loyal customers made around 2 support calls.</a:t>
            </a:r>
          </a:p>
          <a:p>
            <a:pPr marL="561334" lvl="1" indent="-280667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170" dirty="0">
                <a:solidFill>
                  <a:srgbClr val="2D2261"/>
                </a:solidFill>
                <a:latin typeface="Roboto Slab" pitchFamily="2" charset="0"/>
                <a:ea typeface="Roboto Slab" pitchFamily="2" charset="0"/>
                <a:cs typeface="Roboto Slab" pitchFamily="2" charset="0"/>
                <a:sym typeface="Red Hat Display"/>
              </a:rPr>
              <a:t>Frequent support requests indicate unresolved issues and lower customer satisfaction.</a:t>
            </a:r>
          </a:p>
          <a:p>
            <a:pPr marL="561334" lvl="1" indent="-280667" algn="just">
              <a:lnSpc>
                <a:spcPts val="3639"/>
              </a:lnSpc>
              <a:spcBef>
                <a:spcPct val="0"/>
              </a:spcBef>
              <a:buFont typeface="Arial"/>
              <a:buChar char="•"/>
            </a:pPr>
            <a:r>
              <a:rPr lang="en-US" sz="2170" dirty="0">
                <a:solidFill>
                  <a:srgbClr val="2D2261"/>
                </a:solidFill>
                <a:latin typeface="Roboto Slab" pitchFamily="2" charset="0"/>
                <a:ea typeface="Roboto Slab" pitchFamily="2" charset="0"/>
                <a:cs typeface="Roboto Slab" pitchFamily="2" charset="0"/>
                <a:sym typeface="Red Hat Display"/>
              </a:rPr>
              <a:t>Recommendation: Automatically escalate cases after the 5th support call to reduce churn risk.</a:t>
            </a:r>
          </a:p>
          <a:p>
            <a:pPr algn="ctr">
              <a:lnSpc>
                <a:spcPts val="3639"/>
              </a:lnSpc>
              <a:spcBef>
                <a:spcPct val="0"/>
              </a:spcBef>
            </a:pPr>
            <a:endParaRPr lang="en-US" sz="25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F22D67B-EF53-7362-8443-7BAB44B12C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" y="2603293"/>
            <a:ext cx="9174250" cy="715392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93540" y="-2095015"/>
            <a:ext cx="6727323" cy="4586811"/>
          </a:xfrm>
          <a:custGeom>
            <a:avLst/>
            <a:gdLst/>
            <a:ahLst/>
            <a:cxnLst/>
            <a:rect l="l" t="t" r="r" b="b"/>
            <a:pathLst>
              <a:path w="6727323" h="4586811">
                <a:moveTo>
                  <a:pt x="0" y="0"/>
                </a:moveTo>
                <a:lnTo>
                  <a:pt x="6727323" y="0"/>
                </a:lnTo>
                <a:lnTo>
                  <a:pt x="6727323" y="4586812"/>
                </a:lnTo>
                <a:lnTo>
                  <a:pt x="0" y="45868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4930227" y="529779"/>
            <a:ext cx="7521748" cy="1787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3"/>
              </a:lnSpc>
            </a:pPr>
            <a:r>
              <a:rPr lang="en-US" sz="5718" b="1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Churn by Contract Length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42646" y="4157894"/>
            <a:ext cx="6516654" cy="3040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32"/>
              </a:lnSpc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Monthly Contracts: Have the highest churn with almost everyone leaving </a:t>
            </a:r>
          </a:p>
          <a:p>
            <a:pPr algn="just">
              <a:lnSpc>
                <a:spcPts val="3032"/>
              </a:lnSpc>
            </a:pPr>
            <a:endParaRPr lang="en-US" sz="2166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just">
              <a:lnSpc>
                <a:spcPts val="3032"/>
              </a:lnSpc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Annual  Quarterly: Have more customers staying than leaving.</a:t>
            </a:r>
          </a:p>
          <a:p>
            <a:pPr algn="just">
              <a:lnSpc>
                <a:spcPts val="3032"/>
              </a:lnSpc>
            </a:pPr>
            <a:endParaRPr lang="en-US" sz="2166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just">
              <a:lnSpc>
                <a:spcPts val="3032"/>
              </a:lnSpc>
              <a:spcBef>
                <a:spcPct val="0"/>
              </a:spcBef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Conclusion: Monthly contracts are the main driver for customer churn.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7D3A7F-7CC1-F2B9-6ED9-EDA6A30936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771" y="2781300"/>
            <a:ext cx="8898912" cy="66281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2993540" y="-2095015"/>
            <a:ext cx="6727323" cy="4586811"/>
          </a:xfrm>
          <a:custGeom>
            <a:avLst/>
            <a:gdLst/>
            <a:ahLst/>
            <a:cxnLst/>
            <a:rect l="l" t="t" r="r" b="b"/>
            <a:pathLst>
              <a:path w="6727323" h="4586811">
                <a:moveTo>
                  <a:pt x="0" y="0"/>
                </a:moveTo>
                <a:lnTo>
                  <a:pt x="6727323" y="0"/>
                </a:lnTo>
                <a:lnTo>
                  <a:pt x="6727323" y="4586812"/>
                </a:lnTo>
                <a:lnTo>
                  <a:pt x="0" y="45868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4930227" y="529779"/>
            <a:ext cx="7521748" cy="17873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3"/>
              </a:lnSpc>
            </a:pPr>
            <a:r>
              <a:rPr lang="en-US" sz="5718" b="1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Distribution of Total Spend by Churn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0742646" y="4095233"/>
            <a:ext cx="6516654" cy="38026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32"/>
              </a:lnSpc>
            </a:pPr>
            <a:endParaRPr dirty="0"/>
          </a:p>
          <a:p>
            <a:pPr algn="just">
              <a:lnSpc>
                <a:spcPts val="3032"/>
              </a:lnSpc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Customers who left : High average payment delay of 16 days.</a:t>
            </a:r>
          </a:p>
          <a:p>
            <a:pPr algn="just">
              <a:lnSpc>
                <a:spcPts val="3032"/>
              </a:lnSpc>
            </a:pPr>
            <a:endParaRPr lang="en-US" sz="2166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just">
              <a:lnSpc>
                <a:spcPts val="3032"/>
              </a:lnSpc>
              <a:spcBef>
                <a:spcPct val="0"/>
              </a:spcBef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Customers who stayed : Lower average payment delay of 10 days.</a:t>
            </a:r>
          </a:p>
          <a:p>
            <a:pPr algn="just">
              <a:lnSpc>
                <a:spcPts val="3032"/>
              </a:lnSpc>
              <a:spcBef>
                <a:spcPct val="0"/>
              </a:spcBef>
            </a:pPr>
            <a:endParaRPr lang="en-US" sz="2166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  <a:p>
            <a:pPr algn="just">
              <a:lnSpc>
                <a:spcPts val="3032"/>
              </a:lnSpc>
              <a:spcBef>
                <a:spcPct val="0"/>
              </a:spcBef>
            </a:pPr>
            <a:r>
              <a:rPr lang="en-US" sz="2166" dirty="0">
                <a:solidFill>
                  <a:srgbClr val="2D2261"/>
                </a:solidFill>
                <a:latin typeface="Roboto Slab"/>
                <a:ea typeface="Roboto Slab"/>
                <a:cs typeface="Roboto Slab"/>
                <a:sym typeface="Roboto Slab"/>
              </a:rPr>
              <a:t>Longer payment delays are strongly linked to higher customer churn.</a:t>
            </a:r>
          </a:p>
          <a:p>
            <a:pPr algn="ctr">
              <a:lnSpc>
                <a:spcPts val="3032"/>
              </a:lnSpc>
              <a:spcBef>
                <a:spcPct val="0"/>
              </a:spcBef>
            </a:pPr>
            <a:endParaRPr lang="en-US" sz="2166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012837C-6FC5-7843-73E8-C4A47D71A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333" y="2599851"/>
            <a:ext cx="9327775" cy="71573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3427-9C82-C7D1-59C8-5117E0E9F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0F60D08F-4A51-7741-7074-C3449E97439D}"/>
              </a:ext>
            </a:extLst>
          </p:cNvPr>
          <p:cNvSpPr/>
          <p:nvPr/>
        </p:nvSpPr>
        <p:spPr>
          <a:xfrm>
            <a:off x="12993540" y="-2095015"/>
            <a:ext cx="6727323" cy="4586811"/>
          </a:xfrm>
          <a:custGeom>
            <a:avLst/>
            <a:gdLst/>
            <a:ahLst/>
            <a:cxnLst/>
            <a:rect l="l" t="t" r="r" b="b"/>
            <a:pathLst>
              <a:path w="6727323" h="4586811">
                <a:moveTo>
                  <a:pt x="0" y="0"/>
                </a:moveTo>
                <a:lnTo>
                  <a:pt x="6727323" y="0"/>
                </a:lnTo>
                <a:lnTo>
                  <a:pt x="6727323" y="4586812"/>
                </a:lnTo>
                <a:lnTo>
                  <a:pt x="0" y="45868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BC71CCB-24A5-0E1C-82AD-82C7B07A543C}"/>
              </a:ext>
            </a:extLst>
          </p:cNvPr>
          <p:cNvSpPr txBox="1"/>
          <p:nvPr/>
        </p:nvSpPr>
        <p:spPr>
          <a:xfrm>
            <a:off x="4930227" y="529779"/>
            <a:ext cx="7521748" cy="8857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113"/>
              </a:lnSpc>
            </a:pPr>
            <a:r>
              <a:rPr lang="en-US" sz="5718" b="1" dirty="0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Churn by Age Group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35CA561-900B-CE3F-F02E-434A455FB547}"/>
              </a:ext>
            </a:extLst>
          </p:cNvPr>
          <p:cNvSpPr txBox="1"/>
          <p:nvPr/>
        </p:nvSpPr>
        <p:spPr>
          <a:xfrm>
            <a:off x="10896600" y="3954722"/>
            <a:ext cx="6516654" cy="40304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r>
              <a:rPr lang="en-US" sz="2170" b="1" dirty="0">
                <a:solidFill>
                  <a:srgbClr val="2D2261"/>
                </a:solidFill>
              </a:rPr>
              <a:t>High-Risk Segment:</a:t>
            </a:r>
            <a:r>
              <a:rPr lang="en-US" sz="2170" dirty="0">
                <a:solidFill>
                  <a:srgbClr val="2D2261"/>
                </a:solidFill>
              </a:rPr>
              <a:t> Customers in the </a:t>
            </a:r>
            <a:r>
              <a:rPr lang="en-US" sz="2170" b="1" dirty="0">
                <a:solidFill>
                  <a:srgbClr val="2D2261"/>
                </a:solidFill>
              </a:rPr>
              <a:t>"45+"</a:t>
            </a:r>
            <a:r>
              <a:rPr lang="en-US" sz="2170" dirty="0">
                <a:solidFill>
                  <a:srgbClr val="2D2261"/>
                </a:solidFill>
              </a:rPr>
              <a:t> age group show the highest churn rate, significantly exceeding those who stayed.</a:t>
            </a:r>
            <a:endParaRPr lang="ar-BH" sz="2170" dirty="0">
              <a:solidFill>
                <a:srgbClr val="2D2261"/>
              </a:solidFill>
            </a:endParaRPr>
          </a:p>
          <a:p>
            <a:endParaRPr lang="en-US" sz="2170" dirty="0">
              <a:solidFill>
                <a:srgbClr val="2D2261"/>
              </a:solidFill>
            </a:endParaRPr>
          </a:p>
          <a:p>
            <a:r>
              <a:rPr lang="en-US" sz="2170" b="1" dirty="0">
                <a:solidFill>
                  <a:srgbClr val="2D2261"/>
                </a:solidFill>
              </a:rPr>
              <a:t>Stable Segment:</a:t>
            </a:r>
            <a:r>
              <a:rPr lang="en-US" sz="2170" dirty="0">
                <a:solidFill>
                  <a:srgbClr val="2D2261"/>
                </a:solidFill>
              </a:rPr>
              <a:t> Younger customers (</a:t>
            </a:r>
            <a:r>
              <a:rPr lang="en-US" sz="2170" b="1" dirty="0">
                <a:solidFill>
                  <a:srgbClr val="2D2261"/>
                </a:solidFill>
              </a:rPr>
              <a:t>"Under 30"</a:t>
            </a:r>
            <a:r>
              <a:rPr lang="en-US" sz="2170" dirty="0">
                <a:solidFill>
                  <a:srgbClr val="2D2261"/>
                </a:solidFill>
              </a:rPr>
              <a:t>) appear more likely to stay, suggesting higher loyalty or different service needs.</a:t>
            </a:r>
            <a:endParaRPr lang="ar-BH" sz="2170" dirty="0">
              <a:solidFill>
                <a:srgbClr val="2D2261"/>
              </a:solidFill>
            </a:endParaRPr>
          </a:p>
          <a:p>
            <a:endParaRPr lang="en-US" sz="2170" dirty="0">
              <a:solidFill>
                <a:srgbClr val="2D2261"/>
              </a:solidFill>
            </a:endParaRPr>
          </a:p>
          <a:p>
            <a:r>
              <a:rPr lang="en-US" sz="2170" b="1" dirty="0">
                <a:solidFill>
                  <a:srgbClr val="2D2261"/>
                </a:solidFill>
              </a:rPr>
              <a:t>Trend:</a:t>
            </a:r>
            <a:r>
              <a:rPr lang="en-US" sz="2170" dirty="0">
                <a:solidFill>
                  <a:srgbClr val="2D2261"/>
                </a:solidFill>
              </a:rPr>
              <a:t> As age increases, the tendency to leave the service rises, indicating that our retention strategies need to be more focused on older demographics.</a:t>
            </a:r>
          </a:p>
          <a:p>
            <a:pPr algn="ctr">
              <a:lnSpc>
                <a:spcPts val="3032"/>
              </a:lnSpc>
              <a:spcBef>
                <a:spcPct val="0"/>
              </a:spcBef>
            </a:pPr>
            <a:endParaRPr lang="en-US" sz="2170" dirty="0">
              <a:solidFill>
                <a:srgbClr val="2D2261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FC5324-D46F-BE3C-8175-58DD643ECE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761" y="2361547"/>
            <a:ext cx="9677400" cy="7216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969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23877" y="2270471"/>
            <a:ext cx="12738318" cy="6708814"/>
            <a:chOff x="0" y="0"/>
            <a:chExt cx="3354948" cy="17669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54948" cy="1766931"/>
            </a:xfrm>
            <a:custGeom>
              <a:avLst/>
              <a:gdLst/>
              <a:ahLst/>
              <a:cxnLst/>
              <a:rect l="l" t="t" r="r" b="b"/>
              <a:pathLst>
                <a:path w="3354948" h="1766931">
                  <a:moveTo>
                    <a:pt x="18233" y="0"/>
                  </a:moveTo>
                  <a:lnTo>
                    <a:pt x="3336715" y="0"/>
                  </a:lnTo>
                  <a:cubicBezTo>
                    <a:pt x="3341551" y="0"/>
                    <a:pt x="3346188" y="1921"/>
                    <a:pt x="3349608" y="5340"/>
                  </a:cubicBezTo>
                  <a:cubicBezTo>
                    <a:pt x="3353027" y="8760"/>
                    <a:pt x="3354948" y="13397"/>
                    <a:pt x="3354948" y="18233"/>
                  </a:cubicBezTo>
                  <a:lnTo>
                    <a:pt x="3354948" y="1748698"/>
                  </a:lnTo>
                  <a:cubicBezTo>
                    <a:pt x="3354948" y="1758767"/>
                    <a:pt x="3346785" y="1766931"/>
                    <a:pt x="3336715" y="1766931"/>
                  </a:cubicBezTo>
                  <a:lnTo>
                    <a:pt x="18233" y="1766931"/>
                  </a:lnTo>
                  <a:cubicBezTo>
                    <a:pt x="13397" y="1766931"/>
                    <a:pt x="8760" y="1765010"/>
                    <a:pt x="5340" y="1761590"/>
                  </a:cubicBezTo>
                  <a:cubicBezTo>
                    <a:pt x="1921" y="1758171"/>
                    <a:pt x="0" y="1753533"/>
                    <a:pt x="0" y="1748698"/>
                  </a:cubicBezTo>
                  <a:lnTo>
                    <a:pt x="0" y="18233"/>
                  </a:lnTo>
                  <a:cubicBezTo>
                    <a:pt x="0" y="13397"/>
                    <a:pt x="1921" y="8760"/>
                    <a:pt x="5340" y="5340"/>
                  </a:cubicBezTo>
                  <a:cubicBezTo>
                    <a:pt x="8760" y="1921"/>
                    <a:pt x="13397" y="0"/>
                    <a:pt x="18233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354948" cy="18145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62272" y="1339010"/>
            <a:ext cx="4061528" cy="1866815"/>
            <a:chOff x="0" y="0"/>
            <a:chExt cx="1069703" cy="49167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703" cy="491672"/>
            </a:xfrm>
            <a:custGeom>
              <a:avLst/>
              <a:gdLst/>
              <a:ahLst/>
              <a:cxnLst/>
              <a:rect l="l" t="t" r="r" b="b"/>
              <a:pathLst>
                <a:path w="1069703" h="491672">
                  <a:moveTo>
                    <a:pt x="57185" y="0"/>
                  </a:moveTo>
                  <a:lnTo>
                    <a:pt x="1012518" y="0"/>
                  </a:lnTo>
                  <a:cubicBezTo>
                    <a:pt x="1027684" y="0"/>
                    <a:pt x="1042230" y="6025"/>
                    <a:pt x="1052954" y="16749"/>
                  </a:cubicBezTo>
                  <a:cubicBezTo>
                    <a:pt x="1063678" y="27473"/>
                    <a:pt x="1069703" y="42018"/>
                    <a:pt x="1069703" y="57185"/>
                  </a:cubicBezTo>
                  <a:lnTo>
                    <a:pt x="1069703" y="434487"/>
                  </a:lnTo>
                  <a:cubicBezTo>
                    <a:pt x="1069703" y="466069"/>
                    <a:pt x="1044100" y="491672"/>
                    <a:pt x="1012518" y="491672"/>
                  </a:cubicBezTo>
                  <a:lnTo>
                    <a:pt x="57185" y="491672"/>
                  </a:lnTo>
                  <a:cubicBezTo>
                    <a:pt x="42018" y="491672"/>
                    <a:pt x="27473" y="485647"/>
                    <a:pt x="16749" y="474923"/>
                  </a:cubicBezTo>
                  <a:cubicBezTo>
                    <a:pt x="6025" y="464198"/>
                    <a:pt x="0" y="449653"/>
                    <a:pt x="0" y="434487"/>
                  </a:cubicBezTo>
                  <a:lnTo>
                    <a:pt x="0" y="57185"/>
                  </a:lnTo>
                  <a:cubicBezTo>
                    <a:pt x="0" y="42018"/>
                    <a:pt x="6025" y="27473"/>
                    <a:pt x="16749" y="16749"/>
                  </a:cubicBezTo>
                  <a:cubicBezTo>
                    <a:pt x="27473" y="6025"/>
                    <a:pt x="42018" y="0"/>
                    <a:pt x="57185" y="0"/>
                  </a:cubicBezTo>
                  <a:close/>
                </a:path>
              </a:pathLst>
            </a:custGeom>
            <a:solidFill>
              <a:srgbClr val="5B7AB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69703" cy="539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392480" y="1948885"/>
            <a:ext cx="3503040" cy="5803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b="1">
                <a:solidFill>
                  <a:srgbClr val="FBFCFE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Summary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494663" y="4107581"/>
            <a:ext cx="11298675" cy="38724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Who leaves: Older customers (45+). </a:t>
            </a: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Best fix: Move customers to long-term (annual) plan</a:t>
            </a:r>
            <a:endParaRPr lang="ar-BH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The limit: More than 5 support calls usually leads to churn.</a:t>
            </a:r>
            <a:endParaRPr lang="ar-BH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Warning signs: Less service usage and payment delays (over 16 days). </a:t>
            </a:r>
            <a:endParaRPr lang="ar-BH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Main reasons: Monthly contracts, too many support calls, and late payments. </a:t>
            </a:r>
          </a:p>
          <a:p>
            <a:pPr marL="582924" lvl="1" indent="-291462" algn="just">
              <a:lnSpc>
                <a:spcPts val="3779"/>
              </a:lnSpc>
              <a:buFont typeface="Arial"/>
              <a:buChar char="•"/>
            </a:pPr>
            <a:endParaRPr lang="en-US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algn="just">
              <a:lnSpc>
                <a:spcPts val="3779"/>
              </a:lnSpc>
            </a:pPr>
            <a:endParaRPr lang="en-US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</p:txBody>
      </p:sp>
      <p:sp>
        <p:nvSpPr>
          <p:cNvPr id="10" name="Freeform 10"/>
          <p:cNvSpPr/>
          <p:nvPr/>
        </p:nvSpPr>
        <p:spPr>
          <a:xfrm rot="-2080684">
            <a:off x="10082077" y="8242051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5" y="0"/>
                </a:lnTo>
                <a:lnTo>
                  <a:pt x="10960235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9426524">
            <a:off x="-3984660" y="-4765086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-2624874">
            <a:off x="-884948" y="9077955"/>
            <a:ext cx="3242701" cy="1827704"/>
          </a:xfrm>
          <a:custGeom>
            <a:avLst/>
            <a:gdLst/>
            <a:ahLst/>
            <a:cxnLst/>
            <a:rect l="l" t="t" r="r" b="b"/>
            <a:pathLst>
              <a:path w="3242701" h="1827704">
                <a:moveTo>
                  <a:pt x="0" y="0"/>
                </a:moveTo>
                <a:lnTo>
                  <a:pt x="3242701" y="0"/>
                </a:lnTo>
                <a:lnTo>
                  <a:pt x="3242701" y="1827704"/>
                </a:lnTo>
                <a:lnTo>
                  <a:pt x="0" y="18277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2830696">
            <a:off x="16075185" y="-10287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823877" y="2270471"/>
            <a:ext cx="12738318" cy="6708814"/>
            <a:chOff x="0" y="0"/>
            <a:chExt cx="3354948" cy="176693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354948" cy="1766931"/>
            </a:xfrm>
            <a:custGeom>
              <a:avLst/>
              <a:gdLst/>
              <a:ahLst/>
              <a:cxnLst/>
              <a:rect l="l" t="t" r="r" b="b"/>
              <a:pathLst>
                <a:path w="3354948" h="1766931">
                  <a:moveTo>
                    <a:pt x="18233" y="0"/>
                  </a:moveTo>
                  <a:lnTo>
                    <a:pt x="3336715" y="0"/>
                  </a:lnTo>
                  <a:cubicBezTo>
                    <a:pt x="3341551" y="0"/>
                    <a:pt x="3346188" y="1921"/>
                    <a:pt x="3349608" y="5340"/>
                  </a:cubicBezTo>
                  <a:cubicBezTo>
                    <a:pt x="3353027" y="8760"/>
                    <a:pt x="3354948" y="13397"/>
                    <a:pt x="3354948" y="18233"/>
                  </a:cubicBezTo>
                  <a:lnTo>
                    <a:pt x="3354948" y="1748698"/>
                  </a:lnTo>
                  <a:cubicBezTo>
                    <a:pt x="3354948" y="1758767"/>
                    <a:pt x="3346785" y="1766931"/>
                    <a:pt x="3336715" y="1766931"/>
                  </a:cubicBezTo>
                  <a:lnTo>
                    <a:pt x="18233" y="1766931"/>
                  </a:lnTo>
                  <a:cubicBezTo>
                    <a:pt x="13397" y="1766931"/>
                    <a:pt x="8760" y="1765010"/>
                    <a:pt x="5340" y="1761590"/>
                  </a:cubicBezTo>
                  <a:cubicBezTo>
                    <a:pt x="1921" y="1758171"/>
                    <a:pt x="0" y="1753533"/>
                    <a:pt x="0" y="1748698"/>
                  </a:cubicBezTo>
                  <a:lnTo>
                    <a:pt x="0" y="18233"/>
                  </a:lnTo>
                  <a:cubicBezTo>
                    <a:pt x="0" y="13397"/>
                    <a:pt x="1921" y="8760"/>
                    <a:pt x="5340" y="5340"/>
                  </a:cubicBezTo>
                  <a:cubicBezTo>
                    <a:pt x="8760" y="1921"/>
                    <a:pt x="13397" y="0"/>
                    <a:pt x="18233" y="0"/>
                  </a:cubicBezTo>
                  <a:close/>
                </a:path>
              </a:pathLst>
            </a:custGeom>
            <a:solidFill>
              <a:srgbClr val="ECE1D7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3354948" cy="18145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7162272" y="1339010"/>
            <a:ext cx="4061528" cy="1866815"/>
            <a:chOff x="0" y="0"/>
            <a:chExt cx="1069703" cy="49167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069703" cy="491672"/>
            </a:xfrm>
            <a:custGeom>
              <a:avLst/>
              <a:gdLst/>
              <a:ahLst/>
              <a:cxnLst/>
              <a:rect l="l" t="t" r="r" b="b"/>
              <a:pathLst>
                <a:path w="1069703" h="491672">
                  <a:moveTo>
                    <a:pt x="57185" y="0"/>
                  </a:moveTo>
                  <a:lnTo>
                    <a:pt x="1012518" y="0"/>
                  </a:lnTo>
                  <a:cubicBezTo>
                    <a:pt x="1027684" y="0"/>
                    <a:pt x="1042230" y="6025"/>
                    <a:pt x="1052954" y="16749"/>
                  </a:cubicBezTo>
                  <a:cubicBezTo>
                    <a:pt x="1063678" y="27473"/>
                    <a:pt x="1069703" y="42018"/>
                    <a:pt x="1069703" y="57185"/>
                  </a:cubicBezTo>
                  <a:lnTo>
                    <a:pt x="1069703" y="434487"/>
                  </a:lnTo>
                  <a:cubicBezTo>
                    <a:pt x="1069703" y="466069"/>
                    <a:pt x="1044100" y="491672"/>
                    <a:pt x="1012518" y="491672"/>
                  </a:cubicBezTo>
                  <a:lnTo>
                    <a:pt x="57185" y="491672"/>
                  </a:lnTo>
                  <a:cubicBezTo>
                    <a:pt x="42018" y="491672"/>
                    <a:pt x="27473" y="485647"/>
                    <a:pt x="16749" y="474923"/>
                  </a:cubicBezTo>
                  <a:cubicBezTo>
                    <a:pt x="6025" y="464198"/>
                    <a:pt x="0" y="449653"/>
                    <a:pt x="0" y="434487"/>
                  </a:cubicBezTo>
                  <a:lnTo>
                    <a:pt x="0" y="57185"/>
                  </a:lnTo>
                  <a:cubicBezTo>
                    <a:pt x="0" y="42018"/>
                    <a:pt x="6025" y="27473"/>
                    <a:pt x="16749" y="16749"/>
                  </a:cubicBezTo>
                  <a:cubicBezTo>
                    <a:pt x="27473" y="6025"/>
                    <a:pt x="42018" y="0"/>
                    <a:pt x="57185" y="0"/>
                  </a:cubicBezTo>
                  <a:close/>
                </a:path>
              </a:pathLst>
            </a:custGeom>
            <a:solidFill>
              <a:srgbClr val="5B7AB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069703" cy="53929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32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047238" y="1948885"/>
            <a:ext cx="4291595" cy="5638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19"/>
              </a:lnSpc>
            </a:pPr>
            <a:r>
              <a:rPr lang="en-US" sz="3299" b="1">
                <a:solidFill>
                  <a:srgbClr val="FBFCFE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Recommendations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543697" y="4540791"/>
            <a:ext cx="11298675" cy="2410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Targeted Loyalty: Offer specialized support for the 45+ age</a:t>
            </a:r>
            <a:endParaRPr lang="ar-BH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Proactive Support: Flag users after 5 support calls for urgent help. </a:t>
            </a:r>
            <a:endParaRPr lang="ar-BH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Payment Reminders: Send alerts by day 10 to reduce payment delays. . </a:t>
            </a:r>
            <a:endParaRPr lang="ar-BH" sz="2699" dirty="0">
              <a:solidFill>
                <a:srgbClr val="2D2261"/>
              </a:solidFill>
              <a:latin typeface="Red Hat Display"/>
              <a:ea typeface="Red Hat Display"/>
              <a:cs typeface="Red Hat Display"/>
              <a:sym typeface="Red Hat Display"/>
            </a:endParaRPr>
          </a:p>
          <a:p>
            <a:pPr marL="582924" lvl="1" indent="-291462" algn="ctr">
              <a:lnSpc>
                <a:spcPts val="3779"/>
              </a:lnSpc>
              <a:buFont typeface="Arial"/>
              <a:buChar char="•"/>
            </a:pPr>
            <a:r>
              <a:rPr lang="en-US" sz="2699" dirty="0">
                <a:solidFill>
                  <a:srgbClr val="2D2261"/>
                </a:solidFill>
                <a:latin typeface="Red Hat Display"/>
                <a:ea typeface="Red Hat Display"/>
                <a:cs typeface="Red Hat Display"/>
                <a:sym typeface="Red Hat Display"/>
              </a:rPr>
              <a:t>Boost Long-Term Contracts: Use discounts to switch monthly users to annual plans. </a:t>
            </a:r>
          </a:p>
        </p:txBody>
      </p:sp>
      <p:sp>
        <p:nvSpPr>
          <p:cNvPr id="10" name="Freeform 10"/>
          <p:cNvSpPr/>
          <p:nvPr/>
        </p:nvSpPr>
        <p:spPr>
          <a:xfrm rot="-2080684">
            <a:off x="10082077" y="8242051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5" y="0"/>
                </a:lnTo>
                <a:lnTo>
                  <a:pt x="10960235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 rot="9426524">
            <a:off x="-3984660" y="-4765086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 rot="-2624874">
            <a:off x="-884948" y="9077955"/>
            <a:ext cx="3242701" cy="1827704"/>
          </a:xfrm>
          <a:custGeom>
            <a:avLst/>
            <a:gdLst/>
            <a:ahLst/>
            <a:cxnLst/>
            <a:rect l="l" t="t" r="r" b="b"/>
            <a:pathLst>
              <a:path w="3242701" h="1827704">
                <a:moveTo>
                  <a:pt x="0" y="0"/>
                </a:moveTo>
                <a:lnTo>
                  <a:pt x="3242701" y="0"/>
                </a:lnTo>
                <a:lnTo>
                  <a:pt x="3242701" y="1827704"/>
                </a:lnTo>
                <a:lnTo>
                  <a:pt x="0" y="18277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Freeform 13"/>
          <p:cNvSpPr/>
          <p:nvPr/>
        </p:nvSpPr>
        <p:spPr>
          <a:xfrm rot="2830696">
            <a:off x="16075185" y="-10287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3247961" y="4722271"/>
            <a:ext cx="11792078" cy="8532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45"/>
              </a:lnSpc>
            </a:pPr>
            <a:r>
              <a:rPr lang="en-US" sz="5032" b="1" dirty="0">
                <a:solidFill>
                  <a:srgbClr val="2D2261"/>
                </a:solidFill>
                <a:latin typeface="Red Hat Display Bold"/>
                <a:ea typeface="Red Hat Display Bold"/>
                <a:cs typeface="Red Hat Display Bold"/>
                <a:sym typeface="Red Hat Display Bold"/>
              </a:rPr>
              <a:t>Thank you for your time and attention</a:t>
            </a:r>
          </a:p>
        </p:txBody>
      </p:sp>
      <p:sp>
        <p:nvSpPr>
          <p:cNvPr id="3" name="Freeform 3"/>
          <p:cNvSpPr/>
          <p:nvPr/>
        </p:nvSpPr>
        <p:spPr>
          <a:xfrm rot="-2080684">
            <a:off x="10082077" y="8242051"/>
            <a:ext cx="10960234" cy="7472887"/>
          </a:xfrm>
          <a:custGeom>
            <a:avLst/>
            <a:gdLst/>
            <a:ahLst/>
            <a:cxnLst/>
            <a:rect l="l" t="t" r="r" b="b"/>
            <a:pathLst>
              <a:path w="10960234" h="7472887">
                <a:moveTo>
                  <a:pt x="0" y="0"/>
                </a:moveTo>
                <a:lnTo>
                  <a:pt x="10960235" y="0"/>
                </a:lnTo>
                <a:lnTo>
                  <a:pt x="10960235" y="7472887"/>
                </a:lnTo>
                <a:lnTo>
                  <a:pt x="0" y="7472887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 rot="9426524">
            <a:off x="-3984660" y="-4765086"/>
            <a:ext cx="9442126" cy="8000056"/>
          </a:xfrm>
          <a:custGeom>
            <a:avLst/>
            <a:gdLst/>
            <a:ahLst/>
            <a:cxnLst/>
            <a:rect l="l" t="t" r="r" b="b"/>
            <a:pathLst>
              <a:path w="9442126" h="8000056">
                <a:moveTo>
                  <a:pt x="0" y="0"/>
                </a:moveTo>
                <a:lnTo>
                  <a:pt x="9442126" y="0"/>
                </a:lnTo>
                <a:lnTo>
                  <a:pt x="9442126" y="8000056"/>
                </a:lnTo>
                <a:lnTo>
                  <a:pt x="0" y="800005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5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 rot="-2624874">
            <a:off x="-884948" y="9077955"/>
            <a:ext cx="3242701" cy="1827704"/>
          </a:xfrm>
          <a:custGeom>
            <a:avLst/>
            <a:gdLst/>
            <a:ahLst/>
            <a:cxnLst/>
            <a:rect l="l" t="t" r="r" b="b"/>
            <a:pathLst>
              <a:path w="3242701" h="1827704">
                <a:moveTo>
                  <a:pt x="0" y="0"/>
                </a:moveTo>
                <a:lnTo>
                  <a:pt x="3242701" y="0"/>
                </a:lnTo>
                <a:lnTo>
                  <a:pt x="3242701" y="1827704"/>
                </a:lnTo>
                <a:lnTo>
                  <a:pt x="0" y="182770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 rot="2830696">
            <a:off x="16075185" y="-1028700"/>
            <a:ext cx="2835471" cy="4114800"/>
          </a:xfrm>
          <a:custGeom>
            <a:avLst/>
            <a:gdLst/>
            <a:ahLst/>
            <a:cxnLst/>
            <a:rect l="l" t="t" r="r" b="b"/>
            <a:pathLst>
              <a:path w="2835471" h="4114800">
                <a:moveTo>
                  <a:pt x="0" y="0"/>
                </a:moveTo>
                <a:lnTo>
                  <a:pt x="2835471" y="0"/>
                </a:lnTo>
                <a:lnTo>
                  <a:pt x="2835471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507</Words>
  <Application>Microsoft Office PowerPoint</Application>
  <PresentationFormat>Custom</PresentationFormat>
  <Paragraphs>53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Red Hat Display</vt:lpstr>
      <vt:lpstr>Arial</vt:lpstr>
      <vt:lpstr>Roboto Slab</vt:lpstr>
      <vt:lpstr>Calibri</vt:lpstr>
      <vt:lpstr>Aptos</vt:lpstr>
      <vt:lpstr>Red Hat Display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Cream Illustrative SWOT Analysis Presentation</dc:title>
  <cp:lastModifiedBy>noora hussain</cp:lastModifiedBy>
  <cp:revision>12</cp:revision>
  <dcterms:created xsi:type="dcterms:W3CDTF">2006-08-16T00:00:00Z</dcterms:created>
  <dcterms:modified xsi:type="dcterms:W3CDTF">2026-07-13T13:27:16Z</dcterms:modified>
  <dc:identifier>DAHPK2Ak8-4</dc:identifier>
</cp:coreProperties>
</file>