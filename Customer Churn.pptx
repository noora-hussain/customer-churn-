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Red Hat Display" panose="020B0604020202020204" charset="0"/>
      <p:regular r:id="rId13"/>
    </p:embeddedFont>
    <p:embeddedFont>
      <p:font typeface="Red Hat Display Bold" panose="020B0604020202020204" charset="0"/>
      <p:regular r:id="rId14"/>
    </p:embeddedFont>
    <p:embeddedFont>
      <p:font typeface="Roboto Slab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9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60629" y="-209501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68185" y="2136222"/>
            <a:ext cx="6925852" cy="6014556"/>
          </a:xfrm>
          <a:custGeom>
            <a:avLst/>
            <a:gdLst/>
            <a:ahLst/>
            <a:cxnLst/>
            <a:rect l="l" t="t" r="r" b="b"/>
            <a:pathLst>
              <a:path w="6925852" h="6014556">
                <a:moveTo>
                  <a:pt x="0" y="0"/>
                </a:moveTo>
                <a:lnTo>
                  <a:pt x="6925852" y="0"/>
                </a:lnTo>
                <a:lnTo>
                  <a:pt x="6925852" y="6014556"/>
                </a:lnTo>
                <a:lnTo>
                  <a:pt x="0" y="601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635325">
            <a:off x="-1336143" y="6923321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226878">
            <a:off x="-216283" y="847655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2830696">
            <a:off x="12315724" y="82296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5463597"/>
            <a:ext cx="5756398" cy="49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Noora Hussain Ali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2619" y="3979127"/>
            <a:ext cx="8114734" cy="1103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7074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Customer Churn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01445" y="3314288"/>
            <a:ext cx="12738318" cy="4589884"/>
            <a:chOff x="0" y="0"/>
            <a:chExt cx="3354948" cy="12088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54948" cy="1208858"/>
            </a:xfrm>
            <a:custGeom>
              <a:avLst/>
              <a:gdLst/>
              <a:ahLst/>
              <a:cxnLst/>
              <a:rect l="l" t="t" r="r" b="b"/>
              <a:pathLst>
                <a:path w="3354948" h="1208858">
                  <a:moveTo>
                    <a:pt x="18233" y="0"/>
                  </a:moveTo>
                  <a:lnTo>
                    <a:pt x="3336715" y="0"/>
                  </a:lnTo>
                  <a:cubicBezTo>
                    <a:pt x="3341551" y="0"/>
                    <a:pt x="3346188" y="1921"/>
                    <a:pt x="3349608" y="5340"/>
                  </a:cubicBezTo>
                  <a:cubicBezTo>
                    <a:pt x="3353027" y="8760"/>
                    <a:pt x="3354948" y="13397"/>
                    <a:pt x="3354948" y="18233"/>
                  </a:cubicBezTo>
                  <a:lnTo>
                    <a:pt x="3354948" y="1190625"/>
                  </a:lnTo>
                  <a:cubicBezTo>
                    <a:pt x="3354948" y="1200695"/>
                    <a:pt x="3346785" y="1208858"/>
                    <a:pt x="3336715" y="1208858"/>
                  </a:cubicBezTo>
                  <a:lnTo>
                    <a:pt x="18233" y="1208858"/>
                  </a:lnTo>
                  <a:cubicBezTo>
                    <a:pt x="13397" y="1208858"/>
                    <a:pt x="8760" y="1206937"/>
                    <a:pt x="5340" y="1203518"/>
                  </a:cubicBezTo>
                  <a:cubicBezTo>
                    <a:pt x="1921" y="1200099"/>
                    <a:pt x="0" y="1195461"/>
                    <a:pt x="0" y="1190625"/>
                  </a:cubicBezTo>
                  <a:lnTo>
                    <a:pt x="0" y="18233"/>
                  </a:lnTo>
                  <a:cubicBezTo>
                    <a:pt x="0" y="13397"/>
                    <a:pt x="1921" y="8760"/>
                    <a:pt x="5340" y="5340"/>
                  </a:cubicBezTo>
                  <a:cubicBezTo>
                    <a:pt x="8760" y="1921"/>
                    <a:pt x="13397" y="0"/>
                    <a:pt x="18233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54948" cy="125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39840" y="2382828"/>
            <a:ext cx="4061528" cy="1866815"/>
            <a:chOff x="0" y="0"/>
            <a:chExt cx="1069703" cy="491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9703" cy="491672"/>
            </a:xfrm>
            <a:custGeom>
              <a:avLst/>
              <a:gdLst/>
              <a:ahLst/>
              <a:cxnLst/>
              <a:rect l="l" t="t" r="r" b="b"/>
              <a:pathLst>
                <a:path w="1069703" h="491672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434487"/>
                  </a:lnTo>
                  <a:cubicBezTo>
                    <a:pt x="1069703" y="466069"/>
                    <a:pt x="1044100" y="491672"/>
                    <a:pt x="1012518" y="491672"/>
                  </a:cubicBezTo>
                  <a:lnTo>
                    <a:pt x="57185" y="491672"/>
                  </a:lnTo>
                  <a:cubicBezTo>
                    <a:pt x="42018" y="491672"/>
                    <a:pt x="27473" y="485647"/>
                    <a:pt x="16749" y="474923"/>
                  </a:cubicBezTo>
                  <a:cubicBezTo>
                    <a:pt x="6025" y="464198"/>
                    <a:pt x="0" y="449653"/>
                    <a:pt x="0" y="434487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5B7AB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69703" cy="539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19084" y="2990755"/>
            <a:ext cx="3503040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BFCF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Introduction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21538" y="4730516"/>
            <a:ext cx="11298675" cy="212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dirty="0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 this project, I explore customer churn. The main goal is to understand why some customers leave the company while others stay. By analyzing customer data. I hope to find the main factors that affect customer churn .</a:t>
            </a:r>
          </a:p>
        </p:txBody>
      </p:sp>
      <p:sp>
        <p:nvSpPr>
          <p:cNvPr id="10" name="Freeform 10"/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01445" y="3314288"/>
            <a:ext cx="12738318" cy="4589884"/>
            <a:chOff x="0" y="0"/>
            <a:chExt cx="3354948" cy="12088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54948" cy="1208858"/>
            </a:xfrm>
            <a:custGeom>
              <a:avLst/>
              <a:gdLst/>
              <a:ahLst/>
              <a:cxnLst/>
              <a:rect l="l" t="t" r="r" b="b"/>
              <a:pathLst>
                <a:path w="3354948" h="1208858">
                  <a:moveTo>
                    <a:pt x="18233" y="0"/>
                  </a:moveTo>
                  <a:lnTo>
                    <a:pt x="3336715" y="0"/>
                  </a:lnTo>
                  <a:cubicBezTo>
                    <a:pt x="3341551" y="0"/>
                    <a:pt x="3346188" y="1921"/>
                    <a:pt x="3349608" y="5340"/>
                  </a:cubicBezTo>
                  <a:cubicBezTo>
                    <a:pt x="3353027" y="8760"/>
                    <a:pt x="3354948" y="13397"/>
                    <a:pt x="3354948" y="18233"/>
                  </a:cubicBezTo>
                  <a:lnTo>
                    <a:pt x="3354948" y="1190625"/>
                  </a:lnTo>
                  <a:cubicBezTo>
                    <a:pt x="3354948" y="1200695"/>
                    <a:pt x="3346785" y="1208858"/>
                    <a:pt x="3336715" y="1208858"/>
                  </a:cubicBezTo>
                  <a:lnTo>
                    <a:pt x="18233" y="1208858"/>
                  </a:lnTo>
                  <a:cubicBezTo>
                    <a:pt x="13397" y="1208858"/>
                    <a:pt x="8760" y="1206937"/>
                    <a:pt x="5340" y="1203518"/>
                  </a:cubicBezTo>
                  <a:cubicBezTo>
                    <a:pt x="1921" y="1200099"/>
                    <a:pt x="0" y="1195461"/>
                    <a:pt x="0" y="1190625"/>
                  </a:cubicBezTo>
                  <a:lnTo>
                    <a:pt x="0" y="18233"/>
                  </a:lnTo>
                  <a:cubicBezTo>
                    <a:pt x="0" y="13397"/>
                    <a:pt x="1921" y="8760"/>
                    <a:pt x="5340" y="5340"/>
                  </a:cubicBezTo>
                  <a:cubicBezTo>
                    <a:pt x="8760" y="1921"/>
                    <a:pt x="13397" y="0"/>
                    <a:pt x="18233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54948" cy="125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39840" y="2382828"/>
            <a:ext cx="4061528" cy="1866815"/>
            <a:chOff x="0" y="0"/>
            <a:chExt cx="1069703" cy="491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9703" cy="491672"/>
            </a:xfrm>
            <a:custGeom>
              <a:avLst/>
              <a:gdLst/>
              <a:ahLst/>
              <a:cxnLst/>
              <a:rect l="l" t="t" r="r" b="b"/>
              <a:pathLst>
                <a:path w="1069703" h="491672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434487"/>
                  </a:lnTo>
                  <a:cubicBezTo>
                    <a:pt x="1069703" y="466069"/>
                    <a:pt x="1044100" y="491672"/>
                    <a:pt x="1012518" y="491672"/>
                  </a:cubicBezTo>
                  <a:lnTo>
                    <a:pt x="57185" y="491672"/>
                  </a:lnTo>
                  <a:cubicBezTo>
                    <a:pt x="42018" y="491672"/>
                    <a:pt x="27473" y="485647"/>
                    <a:pt x="16749" y="474923"/>
                  </a:cubicBezTo>
                  <a:cubicBezTo>
                    <a:pt x="6025" y="464198"/>
                    <a:pt x="0" y="449653"/>
                    <a:pt x="0" y="434487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5B7AB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69703" cy="539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19084" y="2692665"/>
            <a:ext cx="3503040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BFCF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21266" y="5095875"/>
            <a:ext cx="11298675" cy="10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company is facing a high customer churn rate, where 55.52% of customers have left and only 44.48% have stayed.</a:t>
            </a:r>
          </a:p>
        </p:txBody>
      </p:sp>
      <p:sp>
        <p:nvSpPr>
          <p:cNvPr id="10" name="Freeform 10"/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64475" y="952500"/>
            <a:ext cx="9759051" cy="728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Objectives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524348" y="2311676"/>
            <a:ext cx="3499238" cy="3187339"/>
            <a:chOff x="0" y="0"/>
            <a:chExt cx="921610" cy="8394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1610" cy="839464"/>
            </a:xfrm>
            <a:custGeom>
              <a:avLst/>
              <a:gdLst/>
              <a:ahLst/>
              <a:cxnLst/>
              <a:rect l="l" t="t" r="r" b="b"/>
              <a:pathLst>
                <a:path w="921610" h="839464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773090"/>
                  </a:lnTo>
                  <a:cubicBezTo>
                    <a:pt x="921610" y="809747"/>
                    <a:pt x="891893" y="839464"/>
                    <a:pt x="855236" y="839464"/>
                  </a:cubicBezTo>
                  <a:lnTo>
                    <a:pt x="66374" y="839464"/>
                  </a:lnTo>
                  <a:cubicBezTo>
                    <a:pt x="29717" y="839464"/>
                    <a:pt x="0" y="809747"/>
                    <a:pt x="0" y="773090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21610" cy="88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10802" y="2866389"/>
            <a:ext cx="2526330" cy="1823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dirty="0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Q1: Which age and genders churn the most?</a:t>
            </a:r>
          </a:p>
          <a:p>
            <a:pPr algn="ctr">
              <a:lnSpc>
                <a:spcPts val="3639"/>
              </a:lnSpc>
            </a:pPr>
            <a:endParaRPr lang="en-US" sz="2599" dirty="0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7394381" y="2311676"/>
            <a:ext cx="3499238" cy="3187339"/>
            <a:chOff x="0" y="0"/>
            <a:chExt cx="921610" cy="8394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21610" cy="839464"/>
            </a:xfrm>
            <a:custGeom>
              <a:avLst/>
              <a:gdLst/>
              <a:ahLst/>
              <a:cxnLst/>
              <a:rect l="l" t="t" r="r" b="b"/>
              <a:pathLst>
                <a:path w="921610" h="839464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773090"/>
                  </a:lnTo>
                  <a:cubicBezTo>
                    <a:pt x="921610" y="809747"/>
                    <a:pt x="891893" y="839464"/>
                    <a:pt x="855236" y="839464"/>
                  </a:cubicBezTo>
                  <a:lnTo>
                    <a:pt x="66374" y="839464"/>
                  </a:lnTo>
                  <a:cubicBezTo>
                    <a:pt x="29717" y="839464"/>
                    <a:pt x="0" y="809747"/>
                    <a:pt x="0" y="773090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921610" cy="88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264415" y="2311676"/>
            <a:ext cx="3499238" cy="3187339"/>
            <a:chOff x="0" y="0"/>
            <a:chExt cx="921610" cy="8394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1610" cy="839464"/>
            </a:xfrm>
            <a:custGeom>
              <a:avLst/>
              <a:gdLst/>
              <a:ahLst/>
              <a:cxnLst/>
              <a:rect l="l" t="t" r="r" b="b"/>
              <a:pathLst>
                <a:path w="921610" h="839464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773090"/>
                  </a:lnTo>
                  <a:cubicBezTo>
                    <a:pt x="921610" y="809747"/>
                    <a:pt x="891893" y="839464"/>
                    <a:pt x="855236" y="839464"/>
                  </a:cubicBezTo>
                  <a:lnTo>
                    <a:pt x="66374" y="839464"/>
                  </a:lnTo>
                  <a:cubicBezTo>
                    <a:pt x="29717" y="839464"/>
                    <a:pt x="0" y="809747"/>
                    <a:pt x="0" y="773090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21610" cy="88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880835" y="2866389"/>
            <a:ext cx="2526330" cy="22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Q2: What are the main reasons behind their churn?</a:t>
            </a:r>
          </a:p>
          <a:p>
            <a:pPr algn="ctr">
              <a:lnSpc>
                <a:spcPts val="3639"/>
              </a:lnSpc>
            </a:pPr>
            <a:endParaRPr lang="en-US" sz="2599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646094" y="2866389"/>
            <a:ext cx="2526330" cy="22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Q3: Do loyal customers spend and use the service more?</a:t>
            </a:r>
          </a:p>
          <a:p>
            <a:pPr algn="ctr">
              <a:lnSpc>
                <a:spcPts val="3639"/>
              </a:lnSpc>
            </a:pPr>
            <a:endParaRPr lang="en-US" sz="2599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3524348" y="5787792"/>
            <a:ext cx="3499238" cy="3187339"/>
            <a:chOff x="0" y="0"/>
            <a:chExt cx="921610" cy="8394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1610" cy="839464"/>
            </a:xfrm>
            <a:custGeom>
              <a:avLst/>
              <a:gdLst/>
              <a:ahLst/>
              <a:cxnLst/>
              <a:rect l="l" t="t" r="r" b="b"/>
              <a:pathLst>
                <a:path w="921610" h="839464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773090"/>
                  </a:lnTo>
                  <a:cubicBezTo>
                    <a:pt x="921610" y="809747"/>
                    <a:pt x="891893" y="839464"/>
                    <a:pt x="855236" y="839464"/>
                  </a:cubicBezTo>
                  <a:lnTo>
                    <a:pt x="66374" y="839464"/>
                  </a:lnTo>
                  <a:cubicBezTo>
                    <a:pt x="29717" y="839464"/>
                    <a:pt x="0" y="809747"/>
                    <a:pt x="0" y="773090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921610" cy="88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010802" y="6469421"/>
            <a:ext cx="2526330" cy="18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Q4: Are frequent support calls a sign of leaving?</a:t>
            </a:r>
          </a:p>
          <a:p>
            <a:pPr algn="ctr">
              <a:lnSpc>
                <a:spcPts val="3639"/>
              </a:lnSpc>
            </a:pPr>
            <a:endParaRPr lang="en-US" sz="2599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7394381" y="5787792"/>
            <a:ext cx="3499238" cy="3187339"/>
            <a:chOff x="0" y="0"/>
            <a:chExt cx="921610" cy="8394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1610" cy="839464"/>
            </a:xfrm>
            <a:custGeom>
              <a:avLst/>
              <a:gdLst/>
              <a:ahLst/>
              <a:cxnLst/>
              <a:rect l="l" t="t" r="r" b="b"/>
              <a:pathLst>
                <a:path w="921610" h="839464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773090"/>
                  </a:lnTo>
                  <a:cubicBezTo>
                    <a:pt x="921610" y="809747"/>
                    <a:pt x="891893" y="839464"/>
                    <a:pt x="855236" y="839464"/>
                  </a:cubicBezTo>
                  <a:lnTo>
                    <a:pt x="66374" y="839464"/>
                  </a:lnTo>
                  <a:cubicBezTo>
                    <a:pt x="29717" y="839464"/>
                    <a:pt x="0" y="809747"/>
                    <a:pt x="0" y="773090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921610" cy="88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264415" y="5787792"/>
            <a:ext cx="3499238" cy="3187339"/>
            <a:chOff x="0" y="0"/>
            <a:chExt cx="921610" cy="8394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21610" cy="839464"/>
            </a:xfrm>
            <a:custGeom>
              <a:avLst/>
              <a:gdLst/>
              <a:ahLst/>
              <a:cxnLst/>
              <a:rect l="l" t="t" r="r" b="b"/>
              <a:pathLst>
                <a:path w="921610" h="839464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773090"/>
                  </a:lnTo>
                  <a:cubicBezTo>
                    <a:pt x="921610" y="809747"/>
                    <a:pt x="891893" y="839464"/>
                    <a:pt x="855236" y="839464"/>
                  </a:cubicBezTo>
                  <a:lnTo>
                    <a:pt x="66374" y="839464"/>
                  </a:lnTo>
                  <a:cubicBezTo>
                    <a:pt x="29717" y="839464"/>
                    <a:pt x="0" y="809747"/>
                    <a:pt x="0" y="773090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21610" cy="88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880835" y="6214331"/>
            <a:ext cx="2526330" cy="22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Q5: Do payment delays strongly predict cancellation?</a:t>
            </a:r>
          </a:p>
          <a:p>
            <a:pPr algn="ctr">
              <a:lnSpc>
                <a:spcPts val="3639"/>
              </a:lnSpc>
            </a:pPr>
            <a:endParaRPr lang="en-US" sz="2599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750869" y="6442931"/>
            <a:ext cx="2526330" cy="18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Q6: Does the contract type affect customer loyalty?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91241" y="2875454"/>
            <a:ext cx="8752759" cy="6770836"/>
          </a:xfrm>
          <a:custGeom>
            <a:avLst/>
            <a:gdLst/>
            <a:ahLst/>
            <a:cxnLst/>
            <a:rect l="l" t="t" r="r" b="b"/>
            <a:pathLst>
              <a:path w="8752759" h="6770836">
                <a:moveTo>
                  <a:pt x="0" y="0"/>
                </a:moveTo>
                <a:lnTo>
                  <a:pt x="8752759" y="0"/>
                </a:lnTo>
                <a:lnTo>
                  <a:pt x="8752759" y="6770835"/>
                </a:lnTo>
                <a:lnTo>
                  <a:pt x="0" y="6770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7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411219" y="529779"/>
            <a:ext cx="6559765" cy="178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3"/>
              </a:lnSpc>
            </a:pPr>
            <a:r>
              <a:rPr lang="en-US" sz="571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Support Calls vs Customer Churn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43360" y="3722141"/>
            <a:ext cx="6715940" cy="502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ctr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Churned customers made more than 5 support calls on average.</a:t>
            </a:r>
          </a:p>
          <a:p>
            <a:pPr marL="561334" lvl="1" indent="-280667" algn="ctr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Loyal customers made around 2 support calls.</a:t>
            </a:r>
          </a:p>
          <a:p>
            <a:pPr marL="561334" lvl="1" indent="-280667" algn="ctr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Frequent support requests indicate unresolved issues and lower customer satisfaction.</a:t>
            </a:r>
          </a:p>
          <a:p>
            <a:pPr marL="561334" lvl="1" indent="-280667" algn="ctr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Recommendation: Automatically escalate cases after the 5th support call to reduce churn risk.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491797"/>
            <a:ext cx="6984764" cy="7000004"/>
          </a:xfrm>
          <a:custGeom>
            <a:avLst/>
            <a:gdLst/>
            <a:ahLst/>
            <a:cxnLst/>
            <a:rect l="l" t="t" r="r" b="b"/>
            <a:pathLst>
              <a:path w="6984764" h="7000004">
                <a:moveTo>
                  <a:pt x="0" y="0"/>
                </a:moveTo>
                <a:lnTo>
                  <a:pt x="6984764" y="0"/>
                </a:lnTo>
                <a:lnTo>
                  <a:pt x="6984764" y="7000004"/>
                </a:lnTo>
                <a:lnTo>
                  <a:pt x="0" y="7000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021" r="-20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321675" y="1084046"/>
            <a:ext cx="7521748" cy="8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3"/>
              </a:lnSpc>
            </a:pPr>
            <a:r>
              <a:rPr lang="en-US" sz="5718" b="1" dirty="0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Churn Rate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04135" y="4399772"/>
            <a:ext cx="6516654" cy="2659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2166">
                <a:solidFill>
                  <a:srgbClr val="2D2261"/>
                </a:solidFill>
                <a:latin typeface="Roboto Slab"/>
                <a:ea typeface="Roboto Slab"/>
                <a:cs typeface="Roboto Slab"/>
                <a:sym typeface="Roboto Slab"/>
              </a:rPr>
              <a:t>The churn rate is pretty high at 56%, which means more than half left. We need to figure out why we are losing them.</a:t>
            </a:r>
          </a:p>
          <a:p>
            <a:pPr algn="ctr">
              <a:lnSpc>
                <a:spcPts val="3032"/>
              </a:lnSpc>
            </a:pPr>
            <a:endParaRPr lang="en-US" sz="2166">
              <a:solidFill>
                <a:srgbClr val="2D226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ctr">
              <a:lnSpc>
                <a:spcPts val="3032"/>
              </a:lnSpc>
              <a:spcBef>
                <a:spcPct val="0"/>
              </a:spcBef>
            </a:pPr>
            <a:r>
              <a:rPr lang="en-US" sz="2166">
                <a:solidFill>
                  <a:srgbClr val="2D2261"/>
                </a:solidFill>
                <a:latin typeface="Roboto Slab"/>
                <a:ea typeface="Roboto Slab"/>
                <a:cs typeface="Roboto Slab"/>
                <a:sym typeface="Roboto Slab"/>
              </a:rPr>
              <a:t>The data shows that 56% of people left, while only 44% stayed. This is a clear sign that we need better ways to keep them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33580" y="2875454"/>
            <a:ext cx="9193295" cy="6641310"/>
          </a:xfrm>
          <a:custGeom>
            <a:avLst/>
            <a:gdLst/>
            <a:ahLst/>
            <a:cxnLst/>
            <a:rect l="l" t="t" r="r" b="b"/>
            <a:pathLst>
              <a:path w="9193295" h="6641310">
                <a:moveTo>
                  <a:pt x="0" y="0"/>
                </a:moveTo>
                <a:lnTo>
                  <a:pt x="9193294" y="0"/>
                </a:lnTo>
                <a:lnTo>
                  <a:pt x="9193294" y="6641309"/>
                </a:lnTo>
                <a:lnTo>
                  <a:pt x="0" y="664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930227" y="529779"/>
            <a:ext cx="7521748" cy="178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3"/>
              </a:lnSpc>
            </a:pPr>
            <a:r>
              <a:rPr lang="en-US" sz="571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Churn by Contract Length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2646" y="4157894"/>
            <a:ext cx="6516654" cy="3040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2166">
                <a:solidFill>
                  <a:srgbClr val="2D2261"/>
                </a:solidFill>
                <a:latin typeface="Roboto Slab"/>
                <a:ea typeface="Roboto Slab"/>
                <a:cs typeface="Roboto Slab"/>
                <a:sym typeface="Roboto Slab"/>
              </a:rPr>
              <a:t>Monthly Contracts: Have the highest churn with almost everyone leaving (1.0).</a:t>
            </a:r>
          </a:p>
          <a:p>
            <a:pPr algn="ctr">
              <a:lnSpc>
                <a:spcPts val="3032"/>
              </a:lnSpc>
            </a:pPr>
            <a:endParaRPr lang="en-US" sz="2166">
              <a:solidFill>
                <a:srgbClr val="2D226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ctr">
              <a:lnSpc>
                <a:spcPts val="3032"/>
              </a:lnSpc>
            </a:pPr>
            <a:r>
              <a:rPr lang="en-US" sz="2166">
                <a:solidFill>
                  <a:srgbClr val="2D2261"/>
                </a:solidFill>
                <a:latin typeface="Roboto Slab"/>
                <a:ea typeface="Roboto Slab"/>
                <a:cs typeface="Roboto Slab"/>
                <a:sym typeface="Roboto Slab"/>
              </a:rPr>
              <a:t>Annual  Quarterly: Have more customers staying (0.0) than leaving.</a:t>
            </a:r>
          </a:p>
          <a:p>
            <a:pPr algn="ctr">
              <a:lnSpc>
                <a:spcPts val="3032"/>
              </a:lnSpc>
            </a:pPr>
            <a:endParaRPr lang="en-US" sz="2166">
              <a:solidFill>
                <a:srgbClr val="2D226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ctr">
              <a:lnSpc>
                <a:spcPts val="3032"/>
              </a:lnSpc>
              <a:spcBef>
                <a:spcPct val="0"/>
              </a:spcBef>
            </a:pPr>
            <a:r>
              <a:rPr lang="en-US" sz="2166">
                <a:solidFill>
                  <a:srgbClr val="2D2261"/>
                </a:solidFill>
                <a:latin typeface="Roboto Slab"/>
                <a:ea typeface="Roboto Slab"/>
                <a:cs typeface="Roboto Slab"/>
                <a:sym typeface="Roboto Slab"/>
              </a:rPr>
              <a:t>Conclusion: Monthly contracts are the main driver for customer churn.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03207" y="2875454"/>
            <a:ext cx="9202557" cy="7061287"/>
          </a:xfrm>
          <a:custGeom>
            <a:avLst/>
            <a:gdLst/>
            <a:ahLst/>
            <a:cxnLst/>
            <a:rect l="l" t="t" r="r" b="b"/>
            <a:pathLst>
              <a:path w="9202557" h="7061287">
                <a:moveTo>
                  <a:pt x="0" y="0"/>
                </a:moveTo>
                <a:lnTo>
                  <a:pt x="9202557" y="0"/>
                </a:lnTo>
                <a:lnTo>
                  <a:pt x="9202557" y="7061286"/>
                </a:lnTo>
                <a:lnTo>
                  <a:pt x="0" y="7061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930227" y="529779"/>
            <a:ext cx="7521748" cy="178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3"/>
              </a:lnSpc>
            </a:pPr>
            <a:r>
              <a:rPr lang="en-US" sz="571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Distribution of Total Spend by Churn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2646" y="4095233"/>
            <a:ext cx="6516654" cy="3802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endParaRPr/>
          </a:p>
          <a:p>
            <a:pPr algn="ctr">
              <a:lnSpc>
                <a:spcPts val="3032"/>
              </a:lnSpc>
            </a:pPr>
            <a:r>
              <a:rPr lang="en-US" sz="2166">
                <a:solidFill>
                  <a:srgbClr val="2D2261"/>
                </a:solidFill>
                <a:latin typeface="Roboto Slab"/>
                <a:ea typeface="Roboto Slab"/>
                <a:cs typeface="Roboto Slab"/>
                <a:sym typeface="Roboto Slab"/>
              </a:rPr>
              <a:t>Customers who left (1.0): High average payment delay of 16 days.</a:t>
            </a:r>
          </a:p>
          <a:p>
            <a:pPr algn="ctr">
              <a:lnSpc>
                <a:spcPts val="3032"/>
              </a:lnSpc>
            </a:pPr>
            <a:endParaRPr lang="en-US" sz="2166">
              <a:solidFill>
                <a:srgbClr val="2D226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ctr">
              <a:lnSpc>
                <a:spcPts val="3032"/>
              </a:lnSpc>
              <a:spcBef>
                <a:spcPct val="0"/>
              </a:spcBef>
            </a:pPr>
            <a:r>
              <a:rPr lang="en-US" sz="2166">
                <a:solidFill>
                  <a:srgbClr val="2D2261"/>
                </a:solidFill>
                <a:latin typeface="Roboto Slab"/>
                <a:ea typeface="Roboto Slab"/>
                <a:cs typeface="Roboto Slab"/>
                <a:sym typeface="Roboto Slab"/>
              </a:rPr>
              <a:t>Customers who stayed (0.0): Lower average payment delay of 10 days.</a:t>
            </a:r>
          </a:p>
          <a:p>
            <a:pPr algn="ctr">
              <a:lnSpc>
                <a:spcPts val="3032"/>
              </a:lnSpc>
              <a:spcBef>
                <a:spcPct val="0"/>
              </a:spcBef>
            </a:pPr>
            <a:endParaRPr lang="en-US" sz="2166">
              <a:solidFill>
                <a:srgbClr val="2D226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ctr">
              <a:lnSpc>
                <a:spcPts val="3032"/>
              </a:lnSpc>
              <a:spcBef>
                <a:spcPct val="0"/>
              </a:spcBef>
            </a:pPr>
            <a:r>
              <a:rPr lang="en-US" sz="2166">
                <a:solidFill>
                  <a:srgbClr val="2D2261"/>
                </a:solidFill>
                <a:latin typeface="Roboto Slab"/>
                <a:ea typeface="Roboto Slab"/>
                <a:cs typeface="Roboto Slab"/>
                <a:sym typeface="Roboto Slab"/>
              </a:rPr>
              <a:t>Longer payment delays are strongly linked to higher customer churn.</a:t>
            </a:r>
          </a:p>
          <a:p>
            <a:pPr algn="ctr">
              <a:lnSpc>
                <a:spcPts val="3032"/>
              </a:lnSpc>
              <a:spcBef>
                <a:spcPct val="0"/>
              </a:spcBef>
            </a:pPr>
            <a:endParaRPr lang="en-US" sz="2166">
              <a:solidFill>
                <a:srgbClr val="2D226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23877" y="2270471"/>
            <a:ext cx="12738318" cy="6708814"/>
            <a:chOff x="0" y="0"/>
            <a:chExt cx="3354948" cy="17669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54948" cy="1766931"/>
            </a:xfrm>
            <a:custGeom>
              <a:avLst/>
              <a:gdLst/>
              <a:ahLst/>
              <a:cxnLst/>
              <a:rect l="l" t="t" r="r" b="b"/>
              <a:pathLst>
                <a:path w="3354948" h="1766931">
                  <a:moveTo>
                    <a:pt x="18233" y="0"/>
                  </a:moveTo>
                  <a:lnTo>
                    <a:pt x="3336715" y="0"/>
                  </a:lnTo>
                  <a:cubicBezTo>
                    <a:pt x="3341551" y="0"/>
                    <a:pt x="3346188" y="1921"/>
                    <a:pt x="3349608" y="5340"/>
                  </a:cubicBezTo>
                  <a:cubicBezTo>
                    <a:pt x="3353027" y="8760"/>
                    <a:pt x="3354948" y="13397"/>
                    <a:pt x="3354948" y="18233"/>
                  </a:cubicBezTo>
                  <a:lnTo>
                    <a:pt x="3354948" y="1748698"/>
                  </a:lnTo>
                  <a:cubicBezTo>
                    <a:pt x="3354948" y="1758767"/>
                    <a:pt x="3346785" y="1766931"/>
                    <a:pt x="3336715" y="1766931"/>
                  </a:cubicBezTo>
                  <a:lnTo>
                    <a:pt x="18233" y="1766931"/>
                  </a:lnTo>
                  <a:cubicBezTo>
                    <a:pt x="13397" y="1766931"/>
                    <a:pt x="8760" y="1765010"/>
                    <a:pt x="5340" y="1761590"/>
                  </a:cubicBezTo>
                  <a:cubicBezTo>
                    <a:pt x="1921" y="1758171"/>
                    <a:pt x="0" y="1753533"/>
                    <a:pt x="0" y="1748698"/>
                  </a:cubicBezTo>
                  <a:lnTo>
                    <a:pt x="0" y="18233"/>
                  </a:lnTo>
                  <a:cubicBezTo>
                    <a:pt x="0" y="13397"/>
                    <a:pt x="1921" y="8760"/>
                    <a:pt x="5340" y="5340"/>
                  </a:cubicBezTo>
                  <a:cubicBezTo>
                    <a:pt x="8760" y="1921"/>
                    <a:pt x="13397" y="0"/>
                    <a:pt x="18233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54948" cy="1814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62272" y="1339010"/>
            <a:ext cx="4061528" cy="1866815"/>
            <a:chOff x="0" y="0"/>
            <a:chExt cx="1069703" cy="491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9703" cy="491672"/>
            </a:xfrm>
            <a:custGeom>
              <a:avLst/>
              <a:gdLst/>
              <a:ahLst/>
              <a:cxnLst/>
              <a:rect l="l" t="t" r="r" b="b"/>
              <a:pathLst>
                <a:path w="1069703" h="491672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434487"/>
                  </a:lnTo>
                  <a:cubicBezTo>
                    <a:pt x="1069703" y="466069"/>
                    <a:pt x="1044100" y="491672"/>
                    <a:pt x="1012518" y="491672"/>
                  </a:cubicBezTo>
                  <a:lnTo>
                    <a:pt x="57185" y="491672"/>
                  </a:lnTo>
                  <a:cubicBezTo>
                    <a:pt x="42018" y="491672"/>
                    <a:pt x="27473" y="485647"/>
                    <a:pt x="16749" y="474923"/>
                  </a:cubicBezTo>
                  <a:cubicBezTo>
                    <a:pt x="6025" y="464198"/>
                    <a:pt x="0" y="449653"/>
                    <a:pt x="0" y="434487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5B7AB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69703" cy="539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392480" y="1948885"/>
            <a:ext cx="3503040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BFCF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Summary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94663" y="4107581"/>
            <a:ext cx="11298675" cy="3312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4" lvl="1" indent="-291462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Who leaves: Older customers (45+). </a:t>
            </a:r>
          </a:p>
          <a:p>
            <a:pPr marL="582924" lvl="1" indent="-291462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Main reasons: Monthly contracts, too many support calls, and late payments. </a:t>
            </a:r>
          </a:p>
          <a:p>
            <a:pPr marL="582924" lvl="1" indent="-291462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Warning signs: Less service usage and payment delays (over 16 days). </a:t>
            </a:r>
          </a:p>
          <a:p>
            <a:pPr marL="582924" lvl="1" indent="-291462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limit: More than 5 support calls usually leads to churn. </a:t>
            </a:r>
          </a:p>
          <a:p>
            <a:pPr marL="582924" lvl="1" indent="-291462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Best fix: Move customers to long-term (annual) plans</a:t>
            </a:r>
          </a:p>
          <a:p>
            <a:pPr algn="ctr">
              <a:lnSpc>
                <a:spcPts val="3779"/>
              </a:lnSpc>
            </a:pPr>
            <a:endParaRPr lang="en-US" sz="2699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" name="Freeform 10"/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23877" y="2270471"/>
            <a:ext cx="12738318" cy="6708814"/>
            <a:chOff x="0" y="0"/>
            <a:chExt cx="3354948" cy="17669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54948" cy="1766931"/>
            </a:xfrm>
            <a:custGeom>
              <a:avLst/>
              <a:gdLst/>
              <a:ahLst/>
              <a:cxnLst/>
              <a:rect l="l" t="t" r="r" b="b"/>
              <a:pathLst>
                <a:path w="3354948" h="1766931">
                  <a:moveTo>
                    <a:pt x="18233" y="0"/>
                  </a:moveTo>
                  <a:lnTo>
                    <a:pt x="3336715" y="0"/>
                  </a:lnTo>
                  <a:cubicBezTo>
                    <a:pt x="3341551" y="0"/>
                    <a:pt x="3346188" y="1921"/>
                    <a:pt x="3349608" y="5340"/>
                  </a:cubicBezTo>
                  <a:cubicBezTo>
                    <a:pt x="3353027" y="8760"/>
                    <a:pt x="3354948" y="13397"/>
                    <a:pt x="3354948" y="18233"/>
                  </a:cubicBezTo>
                  <a:lnTo>
                    <a:pt x="3354948" y="1748698"/>
                  </a:lnTo>
                  <a:cubicBezTo>
                    <a:pt x="3354948" y="1758767"/>
                    <a:pt x="3346785" y="1766931"/>
                    <a:pt x="3336715" y="1766931"/>
                  </a:cubicBezTo>
                  <a:lnTo>
                    <a:pt x="18233" y="1766931"/>
                  </a:lnTo>
                  <a:cubicBezTo>
                    <a:pt x="13397" y="1766931"/>
                    <a:pt x="8760" y="1765010"/>
                    <a:pt x="5340" y="1761590"/>
                  </a:cubicBezTo>
                  <a:cubicBezTo>
                    <a:pt x="1921" y="1758171"/>
                    <a:pt x="0" y="1753533"/>
                    <a:pt x="0" y="1748698"/>
                  </a:cubicBezTo>
                  <a:lnTo>
                    <a:pt x="0" y="18233"/>
                  </a:lnTo>
                  <a:cubicBezTo>
                    <a:pt x="0" y="13397"/>
                    <a:pt x="1921" y="8760"/>
                    <a:pt x="5340" y="5340"/>
                  </a:cubicBezTo>
                  <a:cubicBezTo>
                    <a:pt x="8760" y="1921"/>
                    <a:pt x="13397" y="0"/>
                    <a:pt x="18233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54948" cy="1814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62272" y="1339010"/>
            <a:ext cx="4061528" cy="1866815"/>
            <a:chOff x="0" y="0"/>
            <a:chExt cx="1069703" cy="491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9703" cy="491672"/>
            </a:xfrm>
            <a:custGeom>
              <a:avLst/>
              <a:gdLst/>
              <a:ahLst/>
              <a:cxnLst/>
              <a:rect l="l" t="t" r="r" b="b"/>
              <a:pathLst>
                <a:path w="1069703" h="491672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434487"/>
                  </a:lnTo>
                  <a:cubicBezTo>
                    <a:pt x="1069703" y="466069"/>
                    <a:pt x="1044100" y="491672"/>
                    <a:pt x="1012518" y="491672"/>
                  </a:cubicBezTo>
                  <a:lnTo>
                    <a:pt x="57185" y="491672"/>
                  </a:lnTo>
                  <a:cubicBezTo>
                    <a:pt x="42018" y="491672"/>
                    <a:pt x="27473" y="485647"/>
                    <a:pt x="16749" y="474923"/>
                  </a:cubicBezTo>
                  <a:cubicBezTo>
                    <a:pt x="6025" y="464198"/>
                    <a:pt x="0" y="449653"/>
                    <a:pt x="0" y="434487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5B7AB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69703" cy="539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047238" y="1948885"/>
            <a:ext cx="4291595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>
                <a:solidFill>
                  <a:srgbClr val="FBFCF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Recommendations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94663" y="4107581"/>
            <a:ext cx="11298675" cy="3312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4" lvl="1" indent="-291462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Boost Long-Term Contracts: Use discounts to switch monthly users to annual plans. </a:t>
            </a:r>
          </a:p>
          <a:p>
            <a:pPr marL="582924" lvl="1" indent="-291462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Proactive Support: Flag users after 5 support calls for urgent help. </a:t>
            </a:r>
          </a:p>
          <a:p>
            <a:pPr marL="582924" lvl="1" indent="-291462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Payment Reminders: Send alerts by day 10 to reduce payment delays. </a:t>
            </a:r>
          </a:p>
          <a:p>
            <a:pPr marL="582924" lvl="1" indent="-291462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Targeted Loyalty: Offer specialized support for the 45+ age group. </a:t>
            </a:r>
          </a:p>
          <a:p>
            <a:pPr algn="ctr">
              <a:lnSpc>
                <a:spcPts val="3779"/>
              </a:lnSpc>
            </a:pPr>
            <a:endParaRPr lang="en-US" sz="2699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</a:t>
            </a:r>
          </a:p>
        </p:txBody>
      </p:sp>
      <p:sp>
        <p:nvSpPr>
          <p:cNvPr id="10" name="Freeform 10"/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47961" y="4722271"/>
            <a:ext cx="11792078" cy="85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5"/>
              </a:lnSpc>
            </a:pPr>
            <a:r>
              <a:rPr lang="en-US" sz="5032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 for your time and attention</a:t>
            </a:r>
          </a:p>
        </p:txBody>
      </p:sp>
      <p:sp>
        <p:nvSpPr>
          <p:cNvPr id="3" name="Freeform 3"/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458</Words>
  <Application>Microsoft Office PowerPoint</Application>
  <PresentationFormat>Custom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Red Hat Display Bold</vt:lpstr>
      <vt:lpstr>Arial</vt:lpstr>
      <vt:lpstr>Red Hat Display</vt:lpstr>
      <vt:lpstr>Calibri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Cream Illustrative SWOT Analysis Presentation</dc:title>
  <cp:lastModifiedBy>noora hussain</cp:lastModifiedBy>
  <cp:revision>3</cp:revision>
  <dcterms:created xsi:type="dcterms:W3CDTF">2006-08-16T00:00:00Z</dcterms:created>
  <dcterms:modified xsi:type="dcterms:W3CDTF">2026-07-12T23:41:09Z</dcterms:modified>
  <dc:identifier>DAHPK2Ak8-4</dc:identifier>
</cp:coreProperties>
</file>